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9E9510-6230-9B56-7BDA-C8A0974BF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ACC0E8C-451C-B304-4EEE-665DA0DE9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B5306F9-A8FA-D628-C034-6AE3B0F3A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A2FF-AE2F-4BA3-9D53-1E87D256CA0C}" type="datetimeFigureOut">
              <a:rPr lang="cs-CZ" smtClean="0"/>
              <a:t>26.06.2026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DE5C576-5A8F-C78B-FB74-56F44519E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55E60C-579D-E648-F61D-0A5058C6F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35FB-CDC9-4CE5-BB96-D3E9263B15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69877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206DA7-2C41-25A7-3221-6A1D54F0E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4404F76-9C96-674A-12AF-A007DB3C2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900AF9E-1B14-6CA8-46E7-913F199DB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A2FF-AE2F-4BA3-9D53-1E87D256CA0C}" type="datetimeFigureOut">
              <a:rPr lang="cs-CZ" smtClean="0"/>
              <a:t>26.06.2026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433B63D-8C09-EF70-1CBA-42E51A0E9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E3EAFFE-1A8B-CA5E-68EF-E50F5E3C9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35FB-CDC9-4CE5-BB96-D3E9263B15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06484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4CF289-C688-22C1-CD35-9B061B989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5DF0B0A-7B15-7332-04F6-4CDEDE118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A329BA5-EBB3-6354-14ED-A1E0E203D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A2FF-AE2F-4BA3-9D53-1E87D256CA0C}" type="datetimeFigureOut">
              <a:rPr lang="cs-CZ" smtClean="0"/>
              <a:t>26.06.2026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5F56E0D-8191-FB2B-90DE-4A5F672B7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9832B19-3BFA-5B15-0FD7-F4A48BCCB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35FB-CDC9-4CE5-BB96-D3E9263B15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8350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A9F101-4043-CA44-C082-DDC0DEECD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0EE9F4-CDE8-8329-8D87-6CB40B976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41E2B94-B2FC-4E5C-461D-C92A3286F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2BB633B-D511-DB2A-E371-BF4AF71EA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A2FF-AE2F-4BA3-9D53-1E87D256CA0C}" type="datetimeFigureOut">
              <a:rPr lang="cs-CZ" smtClean="0"/>
              <a:t>26.06.2026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573E35D-710E-F5B0-5152-CA4329BCF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9EDCA82-7B4C-E37C-8F05-C25DB1F79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35FB-CDC9-4CE5-BB96-D3E9263B15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344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C9A9D7-264B-4CA5-8DDA-625AB7BDC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B1D5F46-AE53-A87A-9D04-912120345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1EA44D6-3560-12A4-198E-CD6DCF738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A4ADDBA4-655D-5560-31C4-3A98651EAE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44978F52-840A-85A8-0E10-BE5C04A31D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7DE45AE-C0CE-EAB3-5C69-9DF545F0B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A2FF-AE2F-4BA3-9D53-1E87D256CA0C}" type="datetimeFigureOut">
              <a:rPr lang="cs-CZ" smtClean="0"/>
              <a:t>26.06.2026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F0EC5C2-16CA-A1C1-02ED-52D80925F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2F97C619-6838-A1BF-B258-7305C77E8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35FB-CDC9-4CE5-BB96-D3E9263B15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70409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5DB613-3C82-B4EC-86F3-DC6866662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27C332DC-DD66-1028-B1EF-56189141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A2FF-AE2F-4BA3-9D53-1E87D256CA0C}" type="datetimeFigureOut">
              <a:rPr lang="cs-CZ" smtClean="0"/>
              <a:t>26.06.2026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2D05EF3-2852-5025-E96A-2FDB83266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6B907C7-4438-4357-4072-5683F4A23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35FB-CDC9-4CE5-BB96-D3E9263B15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92034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C9148FC1-D2A4-1E58-9762-17D95F960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A2FF-AE2F-4BA3-9D53-1E87D256CA0C}" type="datetimeFigureOut">
              <a:rPr lang="cs-CZ" smtClean="0"/>
              <a:t>26.06.2026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EB7A0E6E-6B1B-1AE6-4DC5-851A2C7FA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799DB7C-200F-3ED3-1593-212DF083C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35FB-CDC9-4CE5-BB96-D3E9263B15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54104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0B408C-822E-8392-C038-6E3F88D74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DDDEF5-EB68-D5D5-9D5D-F847D98A6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1E5CEC5-C3B2-BBE0-1238-D8933ACF5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EDA060B-8123-0E1C-CA2E-638B0784C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A2FF-AE2F-4BA3-9D53-1E87D256CA0C}" type="datetimeFigureOut">
              <a:rPr lang="cs-CZ" smtClean="0"/>
              <a:t>26.06.2026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F05049D-787E-762D-8EEC-FD214DD0F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9A83AE3-9323-A886-B070-15B2814BF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35FB-CDC9-4CE5-BB96-D3E9263B15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45469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A5D3C1-CBD2-FEE8-A328-44200F95F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1942CEDD-1903-DB33-C97D-5E2C878176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3D44537-F831-4E46-D7B6-47D365FDC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002F9FA-8489-186E-4C10-155625552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A2FF-AE2F-4BA3-9D53-1E87D256CA0C}" type="datetimeFigureOut">
              <a:rPr lang="cs-CZ" smtClean="0"/>
              <a:t>26.06.2026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03465D6-14C5-554B-8850-30B62E5B2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9453D95-1E07-2FD4-5C92-D2842EDE3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35FB-CDC9-4CE5-BB96-D3E9263B15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99190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F8EEC4E-1B42-269B-7BCF-26C0C796E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6A231D80-8E07-3A8C-3E05-86CC5A2E3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E5943BF-B497-EB8F-16C7-E03CF3D94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A2FF-AE2F-4BA3-9D53-1E87D256CA0C}" type="datetimeFigureOut">
              <a:rPr lang="cs-CZ" smtClean="0"/>
              <a:t>26.06.2026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94841E1-8661-B740-3CB6-5D730FC82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7952649-C930-32E4-F795-BF52414D2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35FB-CDC9-4CE5-BB96-D3E9263B15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3167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EABB4BA5-417E-9613-2091-BE18993221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50AB968-E0FA-9C43-4936-E5E676457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C32835E-0197-3407-1C2B-7C5CF663C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A2FF-AE2F-4BA3-9D53-1E87D256CA0C}" type="datetimeFigureOut">
              <a:rPr lang="cs-CZ" smtClean="0"/>
              <a:t>26.06.2026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8C5D7E1-0069-69ED-E560-EF31D143C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06124DF-055A-5083-A79D-637D8C784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35FB-CDC9-4CE5-BB96-D3E9263B15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18623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B491D92E-73ED-CB7D-253F-C02A72C9A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F45EE45-EE34-E46C-C674-F8877F678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92AC194-7C70-A3F3-5C21-1D26F84AE0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FCA2FF-AE2F-4BA3-9D53-1E87D256CA0C}" type="datetimeFigureOut">
              <a:rPr lang="cs-CZ" smtClean="0"/>
              <a:t>26.06.2026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9AE919F-50D9-4837-50B7-3DA41775E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DCD85B2-AFA3-1A00-769D-631076DF2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3335FB-CDC9-4CE5-BB96-D3E9263B15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74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6CFA03DF-3063-EAD7-F064-2E2E179454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206455DC-6598-2D91-4120-E9026BAAEC01}"/>
              </a:ext>
            </a:extLst>
          </p:cNvPr>
          <p:cNvSpPr/>
          <p:nvPr/>
        </p:nvSpPr>
        <p:spPr>
          <a:xfrm>
            <a:off x="812800" y="3175000"/>
            <a:ext cx="1143000" cy="762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005DD17A-E7FF-072B-C907-B0895B313ABF}"/>
              </a:ext>
            </a:extLst>
          </p:cNvPr>
          <p:cNvSpPr txBox="1"/>
          <p:nvPr/>
        </p:nvSpPr>
        <p:spPr>
          <a:xfrm>
            <a:off x="812800" y="1905000"/>
            <a:ext cx="105664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4400">
                <a:solidFill>
                  <a:srgbClr val="FFFFFF"/>
                </a:solidFill>
                <a:latin typeface="Segoe UI Light" panose="020B0502040204020203" pitchFamily="34" charset="0"/>
              </a:rPr>
              <a:t>kArchiveManager 2.0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3612D8C2-24C6-C84E-E202-EC1317103182}"/>
              </a:ext>
            </a:extLst>
          </p:cNvPr>
          <p:cNvSpPr txBox="1"/>
          <p:nvPr/>
        </p:nvSpPr>
        <p:spPr>
          <a:xfrm>
            <a:off x="812800" y="2844800"/>
            <a:ext cx="10566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000">
                <a:solidFill>
                  <a:srgbClr val="0F7A63"/>
                </a:solidFill>
                <a:latin typeface="Segoe UI Semibold" panose="020B0702040204020203" pitchFamily="34" charset="0"/>
              </a:rPr>
              <a:t>Archivace produkčních dat — princip, bezpečnost a Admin Console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4BB7946F-D88D-B06A-F80E-E3041474711A}"/>
              </a:ext>
            </a:extLst>
          </p:cNvPr>
          <p:cNvSpPr txBox="1"/>
          <p:nvPr/>
        </p:nvSpPr>
        <p:spPr>
          <a:xfrm>
            <a:off x="812800" y="3810000"/>
            <a:ext cx="1056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1600">
                <a:solidFill>
                  <a:srgbClr val="FFFFFF"/>
                </a:solidFill>
                <a:latin typeface="Segoe UI" panose="020B0502040204020203" pitchFamily="34" charset="0"/>
              </a:rPr>
              <a:t>Školení pro podporu L1 / L2</a:t>
            </a:r>
            <a:endParaRPr lang="cs-CZ" sz="16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2072D4F2-F4F0-3838-6CD7-600369C1A9F6}"/>
              </a:ext>
            </a:extLst>
          </p:cNvPr>
          <p:cNvSpPr txBox="1"/>
          <p:nvPr/>
        </p:nvSpPr>
        <p:spPr>
          <a:xfrm>
            <a:off x="812800" y="5969000"/>
            <a:ext cx="10566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200">
                <a:solidFill>
                  <a:srgbClr val="5B6B78"/>
                </a:solidFill>
                <a:latin typeface="Segoe UI" panose="020B0502040204020203" pitchFamily="34" charset="0"/>
              </a:rPr>
              <a:t>KODYS  ·  26. 6. 2026</a:t>
            </a:r>
          </a:p>
        </p:txBody>
      </p:sp>
    </p:spTree>
    <p:extLst>
      <p:ext uri="{BB962C8B-B14F-4D97-AF65-F5344CB8AC3E}">
        <p14:creationId xmlns:p14="http://schemas.microsoft.com/office/powerpoint/2010/main" val="3045206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5B85B01D-7127-ADB4-0ACA-20807A54B6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AB439906-AFCD-5CAE-B304-29EC5F105016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998A22B9-5738-E60A-99E7-F2BB8B41AED1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4D144920-2A46-7CF5-F236-A0F7F429FD67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AD2B79EF-6F06-B608-D070-DCF9F08D5178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OBSAH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4769F1B4-ED2E-0D1F-3AC9-F06E2D6F011B}"/>
              </a:ext>
            </a:extLst>
          </p:cNvPr>
          <p:cNvSpPr txBox="1"/>
          <p:nvPr/>
        </p:nvSpPr>
        <p:spPr>
          <a:xfrm>
            <a:off x="812800" y="787400"/>
            <a:ext cx="10566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3000">
                <a:solidFill>
                  <a:srgbClr val="14202B"/>
                </a:solidFill>
                <a:latin typeface="Segoe UI Semibold" panose="020B0702040204020203" pitchFamily="34" charset="0"/>
              </a:rPr>
              <a:t>Co dnes projdeme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E2DD21A7-1DAA-F684-F8FA-9DE7EA374E78}"/>
              </a:ext>
            </a:extLst>
          </p:cNvPr>
          <p:cNvSpPr/>
          <p:nvPr/>
        </p:nvSpPr>
        <p:spPr>
          <a:xfrm>
            <a:off x="812800" y="1955800"/>
            <a:ext cx="381000" cy="381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044C0146-2A73-6D50-9F07-3E8E98177326}"/>
              </a:ext>
            </a:extLst>
          </p:cNvPr>
          <p:cNvSpPr txBox="1"/>
          <p:nvPr/>
        </p:nvSpPr>
        <p:spPr>
          <a:xfrm>
            <a:off x="812800" y="1986577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cs-CZ" sz="1400" b="1">
                <a:solidFill>
                  <a:srgbClr val="FFFFFF"/>
                </a:solidFill>
                <a:latin typeface="Segoe UI Semibold" panose="020B0702040204020203" pitchFamily="34" charset="0"/>
              </a:rPr>
              <a:t>1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7B3C822E-D23A-733A-A74E-53FD90C318AC}"/>
              </a:ext>
            </a:extLst>
          </p:cNvPr>
          <p:cNvSpPr txBox="1"/>
          <p:nvPr/>
        </p:nvSpPr>
        <p:spPr>
          <a:xfrm>
            <a:off x="1397000" y="19304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>
                <a:solidFill>
                  <a:srgbClr val="14202B"/>
                </a:solidFill>
                <a:latin typeface="Segoe UI" panose="020B0502040204020203" pitchFamily="34" charset="0"/>
              </a:rPr>
              <a:t>Úvod a hlavní pointa software</a:t>
            </a:r>
            <a:endParaRPr lang="cs-CZ">
              <a:solidFill>
                <a:srgbClr val="14202B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572A95BC-AE1A-068F-99E0-F66740530633}"/>
              </a:ext>
            </a:extLst>
          </p:cNvPr>
          <p:cNvSpPr/>
          <p:nvPr/>
        </p:nvSpPr>
        <p:spPr>
          <a:xfrm>
            <a:off x="812800" y="2667000"/>
            <a:ext cx="381000" cy="381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D1078C6B-D5AA-942D-EF28-2BED18FB0046}"/>
              </a:ext>
            </a:extLst>
          </p:cNvPr>
          <p:cNvSpPr txBox="1"/>
          <p:nvPr/>
        </p:nvSpPr>
        <p:spPr>
          <a:xfrm>
            <a:off x="812800" y="2697777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cs-CZ" sz="1400" b="1">
                <a:solidFill>
                  <a:srgbClr val="FFFFFF"/>
                </a:solidFill>
                <a:latin typeface="Segoe UI Semibold" panose="020B0702040204020203" pitchFamily="34" charset="0"/>
              </a:rPr>
              <a:t>2</a:t>
            </a:r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A8836054-A212-232E-8F29-5E1165345AEE}"/>
              </a:ext>
            </a:extLst>
          </p:cNvPr>
          <p:cNvSpPr txBox="1"/>
          <p:nvPr/>
        </p:nvSpPr>
        <p:spPr>
          <a:xfrm>
            <a:off x="1397000" y="26416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>
                <a:solidFill>
                  <a:srgbClr val="14202B"/>
                </a:solidFill>
                <a:latin typeface="Segoe UI" panose="020B0502040204020203" pitchFamily="34" charset="0"/>
              </a:rPr>
              <a:t>Princip chodu aplikace</a:t>
            </a:r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3838709B-684F-C3CA-1F90-73642C708758}"/>
              </a:ext>
            </a:extLst>
          </p:cNvPr>
          <p:cNvSpPr/>
          <p:nvPr/>
        </p:nvSpPr>
        <p:spPr>
          <a:xfrm>
            <a:off x="812800" y="3378200"/>
            <a:ext cx="381000" cy="381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TextovéPole 14">
            <a:extLst>
              <a:ext uri="{FF2B5EF4-FFF2-40B4-BE49-F238E27FC236}">
                <a16:creationId xmlns:a16="http://schemas.microsoft.com/office/drawing/2014/main" id="{16C68B57-9764-B3E2-736B-3FBCD0A9073E}"/>
              </a:ext>
            </a:extLst>
          </p:cNvPr>
          <p:cNvSpPr txBox="1"/>
          <p:nvPr/>
        </p:nvSpPr>
        <p:spPr>
          <a:xfrm>
            <a:off x="812800" y="3408977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cs-CZ" sz="1400" b="1">
                <a:solidFill>
                  <a:srgbClr val="FFFFFF"/>
                </a:solidFill>
                <a:latin typeface="Segoe UI Semibold" panose="020B0702040204020203" pitchFamily="34" charset="0"/>
              </a:rPr>
              <a:t>3</a:t>
            </a: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3C5EAAD5-036C-A2D0-1FD3-DCBEBF4D9FFD}"/>
              </a:ext>
            </a:extLst>
          </p:cNvPr>
          <p:cNvSpPr txBox="1"/>
          <p:nvPr/>
        </p:nvSpPr>
        <p:spPr>
          <a:xfrm>
            <a:off x="1397000" y="33528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>
                <a:solidFill>
                  <a:srgbClr val="14202B"/>
                </a:solidFill>
                <a:latin typeface="Segoe UI" panose="020B0502040204020203" pitchFamily="34" charset="0"/>
              </a:rPr>
              <a:t>Bezpečnostní principy kArchiveManager 2.0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F557750B-BA37-E953-B31D-CB0A63CE4B0A}"/>
              </a:ext>
            </a:extLst>
          </p:cNvPr>
          <p:cNvSpPr/>
          <p:nvPr/>
        </p:nvSpPr>
        <p:spPr>
          <a:xfrm>
            <a:off x="812800" y="4089400"/>
            <a:ext cx="381000" cy="381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AA174C09-A34E-0C49-CC0D-3AADC7820B09}"/>
              </a:ext>
            </a:extLst>
          </p:cNvPr>
          <p:cNvSpPr txBox="1"/>
          <p:nvPr/>
        </p:nvSpPr>
        <p:spPr>
          <a:xfrm>
            <a:off x="812800" y="4120177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cs-CZ" sz="1400" b="1">
                <a:solidFill>
                  <a:srgbClr val="FFFFFF"/>
                </a:solidFill>
                <a:latin typeface="Segoe UI Semibold" panose="020B0702040204020203" pitchFamily="34" charset="0"/>
              </a:rPr>
              <a:t>4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FB55603C-A7F1-D10A-65DD-E04D7D2D3416}"/>
              </a:ext>
            </a:extLst>
          </p:cNvPr>
          <p:cNvSpPr txBox="1"/>
          <p:nvPr/>
        </p:nvSpPr>
        <p:spPr>
          <a:xfrm>
            <a:off x="1397000" y="40640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>
                <a:solidFill>
                  <a:srgbClr val="14202B"/>
                </a:solidFill>
                <a:latin typeface="Segoe UI" panose="020B0502040204020203" pitchFamily="34" charset="0"/>
              </a:rPr>
              <a:t>Jednotlivé funkce a jejich high-level řešení</a:t>
            </a:r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C7E794F1-F3AB-3BC9-A8F6-D4F4F38B32A9}"/>
              </a:ext>
            </a:extLst>
          </p:cNvPr>
          <p:cNvSpPr/>
          <p:nvPr/>
        </p:nvSpPr>
        <p:spPr>
          <a:xfrm>
            <a:off x="812800" y="4800600"/>
            <a:ext cx="381000" cy="381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12126C3E-DE7C-3327-4AD1-C34DE1F6CE99}"/>
              </a:ext>
            </a:extLst>
          </p:cNvPr>
          <p:cNvSpPr txBox="1"/>
          <p:nvPr/>
        </p:nvSpPr>
        <p:spPr>
          <a:xfrm>
            <a:off x="812800" y="4831377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cs-CZ" sz="1400" b="1">
                <a:solidFill>
                  <a:srgbClr val="FFFFFF"/>
                </a:solidFill>
                <a:latin typeface="Segoe UI Semibold" panose="020B0702040204020203" pitchFamily="34" charset="0"/>
              </a:rPr>
              <a:t>5</a:t>
            </a:r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7A62AC8E-3A3D-C1E6-1958-0A6DD7988161}"/>
              </a:ext>
            </a:extLst>
          </p:cNvPr>
          <p:cNvSpPr txBox="1"/>
          <p:nvPr/>
        </p:nvSpPr>
        <p:spPr>
          <a:xfrm>
            <a:off x="1397000" y="47752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>
                <a:solidFill>
                  <a:srgbClr val="14202B"/>
                </a:solidFill>
                <a:latin typeface="Segoe UI" panose="020B0502040204020203" pitchFamily="34" charset="0"/>
              </a:rPr>
              <a:t>Admin Console — nástroj, se kterým budete pracovat</a:t>
            </a:r>
          </a:p>
        </p:txBody>
      </p:sp>
      <p:sp>
        <p:nvSpPr>
          <p:cNvPr id="23" name="Obdélník 22">
            <a:extLst>
              <a:ext uri="{FF2B5EF4-FFF2-40B4-BE49-F238E27FC236}">
                <a16:creationId xmlns:a16="http://schemas.microsoft.com/office/drawing/2014/main" id="{A1DA0D21-8B58-FE0D-0CE7-914D63F1727B}"/>
              </a:ext>
            </a:extLst>
          </p:cNvPr>
          <p:cNvSpPr/>
          <p:nvPr/>
        </p:nvSpPr>
        <p:spPr>
          <a:xfrm>
            <a:off x="812800" y="5511800"/>
            <a:ext cx="381000" cy="381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4" name="TextovéPole 23">
            <a:extLst>
              <a:ext uri="{FF2B5EF4-FFF2-40B4-BE49-F238E27FC236}">
                <a16:creationId xmlns:a16="http://schemas.microsoft.com/office/drawing/2014/main" id="{F8B44260-6DB1-72C0-1989-692983368833}"/>
              </a:ext>
            </a:extLst>
          </p:cNvPr>
          <p:cNvSpPr txBox="1"/>
          <p:nvPr/>
        </p:nvSpPr>
        <p:spPr>
          <a:xfrm>
            <a:off x="812800" y="5542577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cs-CZ" sz="1400" b="1">
                <a:solidFill>
                  <a:srgbClr val="FFFFFF"/>
                </a:solidFill>
                <a:latin typeface="Segoe UI Semibold" panose="020B0702040204020203" pitchFamily="34" charset="0"/>
              </a:rPr>
              <a:t>6</a:t>
            </a:r>
          </a:p>
        </p:txBody>
      </p:sp>
      <p:sp>
        <p:nvSpPr>
          <p:cNvPr id="25" name="TextovéPole 24">
            <a:extLst>
              <a:ext uri="{FF2B5EF4-FFF2-40B4-BE49-F238E27FC236}">
                <a16:creationId xmlns:a16="http://schemas.microsoft.com/office/drawing/2014/main" id="{920AA668-EFD2-8663-0CFE-D6B23D8B2F6F}"/>
              </a:ext>
            </a:extLst>
          </p:cNvPr>
          <p:cNvSpPr txBox="1"/>
          <p:nvPr/>
        </p:nvSpPr>
        <p:spPr>
          <a:xfrm>
            <a:off x="1397000" y="54864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>
                <a:solidFill>
                  <a:srgbClr val="14202B"/>
                </a:solidFill>
                <a:latin typeface="Segoe UI" panose="020B0502040204020203" pitchFamily="34" charset="0"/>
              </a:rPr>
              <a:t>Provoz a řešení potíží pro L1/L2</a:t>
            </a:r>
          </a:p>
        </p:txBody>
      </p:sp>
    </p:spTree>
    <p:extLst>
      <p:ext uri="{BB962C8B-B14F-4D97-AF65-F5344CB8AC3E}">
        <p14:creationId xmlns:p14="http://schemas.microsoft.com/office/powerpoint/2010/main" val="1325277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A2F05A03-7845-81D6-39BA-79355EEB3C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3362DBFA-689F-6472-0D85-EEDE7CD0B147}"/>
              </a:ext>
            </a:extLst>
          </p:cNvPr>
          <p:cNvSpPr txBox="1"/>
          <p:nvPr/>
        </p:nvSpPr>
        <p:spPr>
          <a:xfrm>
            <a:off x="812800" y="2159000"/>
            <a:ext cx="2540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7200">
                <a:solidFill>
                  <a:srgbClr val="0F7A63"/>
                </a:solidFill>
                <a:latin typeface="Segoe UI Light" panose="020B0502040204020203" pitchFamily="34" charset="0"/>
              </a:rPr>
              <a:t>01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652A5746-7B5E-A7DC-59A2-C1EE94835A28}"/>
              </a:ext>
            </a:extLst>
          </p:cNvPr>
          <p:cNvSpPr/>
          <p:nvPr/>
        </p:nvSpPr>
        <p:spPr>
          <a:xfrm>
            <a:off x="889000" y="3429000"/>
            <a:ext cx="1143000" cy="50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DF6D853D-076D-A348-E725-A4ABFEB5F713}"/>
              </a:ext>
            </a:extLst>
          </p:cNvPr>
          <p:cNvSpPr txBox="1"/>
          <p:nvPr/>
        </p:nvSpPr>
        <p:spPr>
          <a:xfrm>
            <a:off x="812800" y="3683000"/>
            <a:ext cx="10566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>
                <a:solidFill>
                  <a:srgbClr val="FFFFFF"/>
                </a:solidFill>
                <a:latin typeface="Segoe UI Semibold" panose="020B0702040204020203" pitchFamily="34" charset="0"/>
              </a:rPr>
              <a:t>Úvod a hlavní pointa software</a:t>
            </a:r>
            <a:endParaRPr lang="cs-CZ" sz="3400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6468DD8D-1E3D-9989-4DDB-A9B98BD31958}"/>
              </a:ext>
            </a:extLst>
          </p:cNvPr>
          <p:cNvSpPr txBox="1"/>
          <p:nvPr/>
        </p:nvSpPr>
        <p:spPr>
          <a:xfrm>
            <a:off x="812800" y="6350000"/>
            <a:ext cx="508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0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</p:spTree>
    <p:extLst>
      <p:ext uri="{BB962C8B-B14F-4D97-AF65-F5344CB8AC3E}">
        <p14:creationId xmlns:p14="http://schemas.microsoft.com/office/powerpoint/2010/main" val="1986985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BF29479B-F242-F857-A482-07E435A9AA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8A9B26F0-D95B-5616-8FE5-0E768E66E90B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6BED94BC-B658-4384-2E73-04F813E359A6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69CA2DE4-D0CB-FD0E-5F77-78E837229F7E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4E88ED4F-1618-3908-F98E-ABA63A512B89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0F7A63"/>
                </a:solidFill>
                <a:latin typeface="Segoe UI Semibold" panose="020B0702040204020203" pitchFamily="34" charset="0"/>
              </a:rPr>
              <a:t>ÚVOD A HLAVNÍ POINTA SOFTWARE</a:t>
            </a:r>
            <a:endParaRPr lang="cs-CZ" sz="1100">
              <a:solidFill>
                <a:srgbClr val="0F7A6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54770998-6A69-09A7-68A1-941EEDC9E1DB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Proč kArchiveManager 2.0 vůbec existuje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7BE39A0A-06C6-5AEA-B7C6-5D6A5D44C1F1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BB3FB6F8-D007-595A-FC1D-5530C8246090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26200514-5C96-C857-4004-6D367BFCB84B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Provozní WMS databáze stále rostou o historická data, výkon klesá a náklady na úložiště stoupají.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7B2C22BB-874C-73D6-32C9-CCC7053170B8}"/>
              </a:ext>
            </a:extLst>
          </p:cNvPr>
          <p:cNvSpPr/>
          <p:nvPr/>
        </p:nvSpPr>
        <p:spPr>
          <a:xfrm>
            <a:off x="812800" y="2743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EB511921-DE1A-4C40-008D-5D58BDD8DEC8}"/>
              </a:ext>
            </a:extLst>
          </p:cNvPr>
          <p:cNvSpPr txBox="1"/>
          <p:nvPr/>
        </p:nvSpPr>
        <p:spPr>
          <a:xfrm>
            <a:off x="1117600" y="2682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Cílem je udržet zdrojové (provozní) databáze v rozumné velikosti a rychlosti.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D486BAF2-7C39-7518-EBC4-68FDEB55EBAC}"/>
              </a:ext>
            </a:extLst>
          </p:cNvPr>
          <p:cNvSpPr/>
          <p:nvPr/>
        </p:nvSpPr>
        <p:spPr>
          <a:xfrm>
            <a:off x="812800" y="3505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1EF08CD6-D7D5-81D7-3667-5F190364F881}"/>
              </a:ext>
            </a:extLst>
          </p:cNvPr>
          <p:cNvSpPr txBox="1"/>
          <p:nvPr/>
        </p:nvSpPr>
        <p:spPr>
          <a:xfrm>
            <a:off x="1117600" y="3444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Cílový rozsah nasazení: databáze 100 až 200+ GB, tabulky 50 až 100M+ řádků.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2468962F-C70C-481B-C7C3-86E75F18338C}"/>
              </a:ext>
            </a:extLst>
          </p:cNvPr>
          <p:cNvSpPr/>
          <p:nvPr/>
        </p:nvSpPr>
        <p:spPr>
          <a:xfrm>
            <a:off x="812800" y="4267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8D1886EE-DF67-6D63-5AEE-FE4D02C91A84}"/>
              </a:ext>
            </a:extLst>
          </p:cNvPr>
          <p:cNvSpPr txBox="1"/>
          <p:nvPr/>
        </p:nvSpPr>
        <p:spPr>
          <a:xfrm>
            <a:off x="1117600" y="4206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Stará data se řízeně promazávají mimo provozní databáze, aby se provoz odlehčil.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63138681-F82D-1E94-109E-D0BC81F61921}"/>
              </a:ext>
            </a:extLst>
          </p:cNvPr>
          <p:cNvSpPr/>
          <p:nvPr/>
        </p:nvSpPr>
        <p:spPr>
          <a:xfrm>
            <a:off x="812800" y="5029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90FD53D9-A8DA-20DA-F0AA-C97E97F10466}"/>
              </a:ext>
            </a:extLst>
          </p:cNvPr>
          <p:cNvSpPr txBox="1"/>
          <p:nvPr/>
        </p:nvSpPr>
        <p:spPr>
          <a:xfrm>
            <a:off x="1117600" y="4968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V archivačním režimu se smazaná data neztratí — přesunou se do oddělené archivní databáze.</a:t>
            </a:r>
          </a:p>
        </p:txBody>
      </p:sp>
      <p:sp>
        <p:nvSpPr>
          <p:cNvPr id="19" name="Obdélník: se zakulacenými rohy 18">
            <a:extLst>
              <a:ext uri="{FF2B5EF4-FFF2-40B4-BE49-F238E27FC236}">
                <a16:creationId xmlns:a16="http://schemas.microsoft.com/office/drawing/2014/main" id="{5258F357-1AB4-7549-3B44-9FC364AC0230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13E0C3C5-27FA-377F-6A77-6AB1797B2A7E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27CADCBA-BB1F-416E-0622-6F1693D453AF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kArchiveManager 2.0 řeší růst WMS databází: řízeně odlehčuje provoz, aniž by se nenávratně ztratila historická data.</a:t>
            </a:r>
          </a:p>
        </p:txBody>
      </p:sp>
    </p:spTree>
    <p:extLst>
      <p:ext uri="{BB962C8B-B14F-4D97-AF65-F5344CB8AC3E}">
        <p14:creationId xmlns:p14="http://schemas.microsoft.com/office/powerpoint/2010/main" val="2823490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29C71E6D-FF47-0C71-7A6F-1C686E1582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D6B8FD4F-1A8C-92A8-8728-5450539B11E7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409F5D3F-9BA0-C30D-40C7-638E1448930E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D6A357F3-95D8-6259-990F-93B31A15A376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53C4A6CB-F64D-C5D4-EDCA-20227F589155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0F7A63"/>
                </a:solidFill>
                <a:latin typeface="Segoe UI Semibold" panose="020B0702040204020203" pitchFamily="34" charset="0"/>
              </a:rPr>
              <a:t>ÚVOD A HLAVNÍ POINTA SOFTWARE</a:t>
            </a:r>
            <a:endParaRPr lang="cs-CZ" sz="1100">
              <a:solidFill>
                <a:srgbClr val="0F7A6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4629F8EF-27EA-0ACC-2F3F-3856DA57BA45}"/>
              </a:ext>
            </a:extLst>
          </p:cNvPr>
          <p:cNvSpPr txBox="1"/>
          <p:nvPr/>
        </p:nvSpPr>
        <p:spPr>
          <a:xfrm>
            <a:off x="812800" y="787400"/>
            <a:ext cx="105664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Co kArchiveManager 2.0 dělá — řízeně promazává a volitelně archivuje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54742044-50BA-4DB5-BA6C-876D0228875C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C51B6901-3890-ECCD-9682-EC7F1D8D0610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8CFA9865-9759-064D-EE84-517E3586838F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Univerzální nástroj pro Microsoft SQL Server na mazání a archivaci historických dat.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10DAA2E6-DDA8-B128-3F4F-66F9EAE89C9A}"/>
              </a:ext>
            </a:extLst>
          </p:cNvPr>
          <p:cNvSpPr/>
          <p:nvPr/>
        </p:nvSpPr>
        <p:spPr>
          <a:xfrm>
            <a:off x="812800" y="2743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C5EFA203-8D93-3B19-A465-93EA3A6271AD}"/>
              </a:ext>
            </a:extLst>
          </p:cNvPr>
          <p:cNvSpPr txBox="1"/>
          <p:nvPr/>
        </p:nvSpPr>
        <p:spPr>
          <a:xfrm>
            <a:off x="1117600" y="2682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Archivní databáze je system-of-record — jediné úložiště smazaných řádků.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48C2F4BA-6886-0207-316A-BB73A115329F}"/>
              </a:ext>
            </a:extLst>
          </p:cNvPr>
          <p:cNvSpPr/>
          <p:nvPr/>
        </p:nvSpPr>
        <p:spPr>
          <a:xfrm>
            <a:off x="812800" y="3505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F6E12365-8CBC-F70B-B688-3325EA116B43}"/>
              </a:ext>
            </a:extLst>
          </p:cNvPr>
          <p:cNvSpPr txBox="1"/>
          <p:nvPr/>
        </p:nvSpPr>
        <p:spPr>
          <a:xfrm>
            <a:off x="1117600" y="3444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Tři režimy: Mode 1 archivace + mazání, Mode 0 jen mazání, Mode 2 jen kopie bez mazání.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B4CEAE9C-3952-B927-6105-AA52064D773C}"/>
              </a:ext>
            </a:extLst>
          </p:cNvPr>
          <p:cNvSpPr/>
          <p:nvPr/>
        </p:nvSpPr>
        <p:spPr>
          <a:xfrm>
            <a:off x="812800" y="4267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13993D11-DB3E-7EB1-D8A5-49C585EE2666}"/>
              </a:ext>
            </a:extLst>
          </p:cNvPr>
          <p:cNvSpPr txBox="1"/>
          <p:nvPr/>
        </p:nvSpPr>
        <p:spPr>
          <a:xfrm>
            <a:off x="1117600" y="4206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Mode 2 je idempotentní záloha — zdroj nikdy nemaže a vkládá jen řádky chybějící v archivu.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1162C325-ACDC-3B28-30A3-9695E231D836}"/>
              </a:ext>
            </a:extLst>
          </p:cNvPr>
          <p:cNvSpPr/>
          <p:nvPr/>
        </p:nvSpPr>
        <p:spPr>
          <a:xfrm>
            <a:off x="812800" y="5029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D879A17B-3B0C-E094-E1F8-EFE22B41BBBA}"/>
              </a:ext>
            </a:extLst>
          </p:cNvPr>
          <p:cNvSpPr txBox="1"/>
          <p:nvPr/>
        </p:nvSpPr>
        <p:spPr>
          <a:xfrm>
            <a:off x="1117600" y="4968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Ze zdrojové databáze pouze čte a po dávkách maže — nemění její schéma ani logiku.</a:t>
            </a:r>
          </a:p>
        </p:txBody>
      </p:sp>
      <p:sp>
        <p:nvSpPr>
          <p:cNvPr id="19" name="Obdélník: se zakulacenými rohy 18">
            <a:extLst>
              <a:ext uri="{FF2B5EF4-FFF2-40B4-BE49-F238E27FC236}">
                <a16:creationId xmlns:a16="http://schemas.microsoft.com/office/drawing/2014/main" id="{842491C1-0332-7A94-B21E-14FF1685F809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28AD3A70-68BA-7DE6-9862-47CC96B48A05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C0C6FDAC-CB04-DF81-79A2-71DC488B23B7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Nástroj řízeně odlehčuje provozní databáze ve třech volitelných režimech a smazaná data uchovává v oddělené archivní databázi.</a:t>
            </a:r>
          </a:p>
        </p:txBody>
      </p:sp>
    </p:spTree>
    <p:extLst>
      <p:ext uri="{BB962C8B-B14F-4D97-AF65-F5344CB8AC3E}">
        <p14:creationId xmlns:p14="http://schemas.microsoft.com/office/powerpoint/2010/main" val="1381064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3BC20FC4-3690-7F5E-8B67-A70E9AC45C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0E9E5A96-C5D2-7F21-D1F9-61DB52BE3CBF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099DC8C5-45CD-9D8B-ABB7-7A5F0B562A16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6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897BD9E-B9A5-EE5A-AB7F-9CFC83B72C22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150263DF-4306-7E3F-B449-097704DC7162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0F7A63"/>
                </a:solidFill>
                <a:latin typeface="Segoe UI Semibold" panose="020B0702040204020203" pitchFamily="34" charset="0"/>
              </a:rPr>
              <a:t>ÚVOD A HLAVNÍ POINTA SOFTWARE</a:t>
            </a:r>
            <a:endParaRPr lang="cs-CZ" sz="1100">
              <a:solidFill>
                <a:srgbClr val="0F7A6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39EE44E6-3158-2F21-7144-9D6628F35076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Hlavní pointa — konfigurační framework, ne procedura na míru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CD02C5EC-6FF0-0878-5B1F-7D9BD2C2BDFE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79209FF5-4B0A-9F5B-9396-DBF2E25AD519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7E3D8CA8-0F9C-C082-A286-10B83AF6C85F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kArchiveManager není jeden pevně zadrátovaný proces, ale konfigurační framework.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E995CDAD-44A6-7774-B929-BD82F2DCEFDA}"/>
              </a:ext>
            </a:extLst>
          </p:cNvPr>
          <p:cNvSpPr/>
          <p:nvPr/>
        </p:nvSpPr>
        <p:spPr>
          <a:xfrm>
            <a:off x="812800" y="2743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D14F6016-0B8A-C4DC-7887-BE6FAC39CBA4}"/>
              </a:ext>
            </a:extLst>
          </p:cNvPr>
          <p:cNvSpPr txBox="1"/>
          <p:nvPr/>
        </p:nvSpPr>
        <p:spPr>
          <a:xfrm>
            <a:off x="1117600" y="2682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Chování každého úklidového procesu popisují metadata, ne procedura psaná na míru.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BB42B932-E3E2-3FC3-94B9-91EBDC4F5585}"/>
              </a:ext>
            </a:extLst>
          </p:cNvPr>
          <p:cNvSpPr/>
          <p:nvPr/>
        </p:nvSpPr>
        <p:spPr>
          <a:xfrm>
            <a:off x="812800" y="3505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AF5C7F67-0582-0DE7-ABB5-17BDAF781458}"/>
              </a:ext>
            </a:extLst>
          </p:cNvPr>
          <p:cNvSpPr txBox="1"/>
          <p:nvPr/>
        </p:nvSpPr>
        <p:spPr>
          <a:xfrm>
            <a:off x="1117600" y="3444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Nový proces se přidá konfigurací, ne psaním nové speciální mazací procedury.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CBCBAB5F-3450-1D38-24DC-A1BB60F1F2D6}"/>
              </a:ext>
            </a:extLst>
          </p:cNvPr>
          <p:cNvSpPr/>
          <p:nvPr/>
        </p:nvSpPr>
        <p:spPr>
          <a:xfrm>
            <a:off x="812800" y="4267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DE0A8E28-5249-21C1-6B8B-85A63F381FCF}"/>
              </a:ext>
            </a:extLst>
          </p:cNvPr>
          <p:cNvSpPr txBox="1"/>
          <p:nvPr/>
        </p:nvSpPr>
        <p:spPr>
          <a:xfrm>
            <a:off x="1117600" y="4206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Tentýž runtime obslouží libovolný počet procesů nad libovolným počtem zdrojových databází.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2A5D0AD4-4BE4-0F32-37A7-D77B642C1648}"/>
              </a:ext>
            </a:extLst>
          </p:cNvPr>
          <p:cNvSpPr/>
          <p:nvPr/>
        </p:nvSpPr>
        <p:spPr>
          <a:xfrm>
            <a:off x="812800" y="5029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3BB13A3E-A2EF-D7CD-81EB-C936F32CD846}"/>
              </a:ext>
            </a:extLst>
          </p:cNvPr>
          <p:cNvSpPr txBox="1"/>
          <p:nvPr/>
        </p:nvSpPr>
        <p:spPr>
          <a:xfrm>
            <a:off x="1117600" y="4968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Dvě aktivně používané strategie výběru: ANCHOR pro dokladové modely, TIMESTAMP pro velké logy.</a:t>
            </a:r>
          </a:p>
        </p:txBody>
      </p:sp>
      <p:sp>
        <p:nvSpPr>
          <p:cNvPr id="19" name="Obdélník: se zakulacenými rohy 18">
            <a:extLst>
              <a:ext uri="{FF2B5EF4-FFF2-40B4-BE49-F238E27FC236}">
                <a16:creationId xmlns:a16="http://schemas.microsoft.com/office/drawing/2014/main" id="{7885C41D-9952-FE19-748B-7460C1DDC69F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A3C99670-52D1-B451-7A7A-734FD65B2720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41BE0509-409D-7CBE-33BA-C425AEAEDFB8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Hlavní myšlenka: chování je popsáno metadaty, takže jeden univerzální nástroj obslouží jakýkoli proces napříč databázemi.</a:t>
            </a:r>
          </a:p>
        </p:txBody>
      </p:sp>
    </p:spTree>
    <p:extLst>
      <p:ext uri="{BB962C8B-B14F-4D97-AF65-F5344CB8AC3E}">
        <p14:creationId xmlns:p14="http://schemas.microsoft.com/office/powerpoint/2010/main" val="2304164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A0C28E74-EEE5-0F41-14D5-2F5557F07C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14947C62-D6B4-5F9F-F38D-74C4BB30E2A8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46ED13DA-2721-EFAA-A528-8D9BC7F0D833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7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8840BFD2-764B-59A1-7F71-7E029D22A113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D2C7E82F-ED32-D218-1DE2-E3839719278B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0F7A63"/>
                </a:solidFill>
                <a:latin typeface="Segoe UI Semibold" panose="020B0702040204020203" pitchFamily="34" charset="0"/>
              </a:rPr>
              <a:t>ÚVOD A HLAVNÍ POINTA SOFTWARE</a:t>
            </a:r>
            <a:endParaRPr lang="cs-CZ" sz="1100">
              <a:solidFill>
                <a:srgbClr val="0F7A6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5651A366-C84B-9876-6466-AE9E11C86FEE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Tři databázové role — oddělení řízení, archivu a provozu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3E90D4A2-82E3-36AA-9774-DF53CEBF0777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0E10F0DE-7D0F-F635-0299-B7284D92D1D0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670F5AC3-53E5-014E-CA33-F5DAED16D0A0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kArchiveManagerAdmin je mozek systému: drží konfiguraci, plán, stav práce a audit; žádná archivovaná data.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2C404DDB-709D-6F72-9151-D7B56AA8CAFA}"/>
              </a:ext>
            </a:extLst>
          </p:cNvPr>
          <p:cNvSpPr/>
          <p:nvPr/>
        </p:nvSpPr>
        <p:spPr>
          <a:xfrm>
            <a:off x="812800" y="2743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035556AF-352B-0F04-AC79-18627196F2B3}"/>
              </a:ext>
            </a:extLst>
          </p:cNvPr>
          <p:cNvSpPr txBox="1"/>
          <p:nvPr/>
        </p:nvSpPr>
        <p:spPr>
          <a:xfrm>
            <a:off x="1117600" y="2559279"/>
            <a:ext cx="102616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kArchiveManagerBackups je archivní databáze a system-of-record smazaných dat, s vynuceným recovery modelem FULL.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1DB1CF04-26E9-FE79-9912-06371AACF7D7}"/>
              </a:ext>
            </a:extLst>
          </p:cNvPr>
          <p:cNvSpPr/>
          <p:nvPr/>
        </p:nvSpPr>
        <p:spPr>
          <a:xfrm>
            <a:off x="812800" y="3505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762519E6-07EC-C0F7-2EC8-C78190ACA2FE}"/>
              </a:ext>
            </a:extLst>
          </p:cNvPr>
          <p:cNvSpPr txBox="1"/>
          <p:nvPr/>
        </p:nvSpPr>
        <p:spPr>
          <a:xfrm>
            <a:off x="1117600" y="3444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Zdrojové (zákaznické) databáze jsou provozní WMS data, ze kterých se po dávkách maže.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0B75DEDF-0328-78DB-193E-B061E4CDEFC4}"/>
              </a:ext>
            </a:extLst>
          </p:cNvPr>
          <p:cNvSpPr/>
          <p:nvPr/>
        </p:nvSpPr>
        <p:spPr>
          <a:xfrm>
            <a:off x="812800" y="4267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F015DB01-91EA-AEF2-E008-05CB43FECE90}"/>
              </a:ext>
            </a:extLst>
          </p:cNvPr>
          <p:cNvSpPr txBox="1"/>
          <p:nvPr/>
        </p:nvSpPr>
        <p:spPr>
          <a:xfrm>
            <a:off x="1117600" y="4206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Archivní data jsou uvnitř oddělena schématy podle zdrojové databáze, například Edge nebo KMWEBV.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B0F2E0F6-4AF3-E057-AAA9-B552BD9C270F}"/>
              </a:ext>
            </a:extLst>
          </p:cNvPr>
          <p:cNvSpPr/>
          <p:nvPr/>
        </p:nvSpPr>
        <p:spPr>
          <a:xfrm>
            <a:off x="812800" y="5029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5A5B6642-B954-B6AA-57D4-A0EDA130E3F3}"/>
              </a:ext>
            </a:extLst>
          </p:cNvPr>
          <p:cNvSpPr txBox="1"/>
          <p:nvPr/>
        </p:nvSpPr>
        <p:spPr>
          <a:xfrm>
            <a:off x="1117600" y="4968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Vy jako podpora budete pracovat hlavně v Admin Console — tenké webové vrstvě nad řídicí databází.</a:t>
            </a:r>
          </a:p>
        </p:txBody>
      </p:sp>
      <p:sp>
        <p:nvSpPr>
          <p:cNvPr id="19" name="Obdélník: se zakulacenými rohy 18">
            <a:extLst>
              <a:ext uri="{FF2B5EF4-FFF2-40B4-BE49-F238E27FC236}">
                <a16:creationId xmlns:a16="http://schemas.microsoft.com/office/drawing/2014/main" id="{69F5A537-2494-2FB1-D8F8-DCDE8906B762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73220811-794D-72A6-1CAE-6FD02A336F5D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AEEFB6BD-36D0-E0D4-8683-E5F0DDE32453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Systém striktně odděluje řízení (Admin), archiv (Backups) a provoz (zdrojové DB); vaším hlavním nástrojem je Admin Console.</a:t>
            </a:r>
          </a:p>
        </p:txBody>
      </p:sp>
    </p:spTree>
    <p:extLst>
      <p:ext uri="{BB962C8B-B14F-4D97-AF65-F5344CB8AC3E}">
        <p14:creationId xmlns:p14="http://schemas.microsoft.com/office/powerpoint/2010/main" val="176393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E3A5FC9E-56D4-18B4-A883-67ACBABC7F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9E2DB43C-0783-5BFF-A709-AA4CC94D8EDD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0F433AB7-BD1F-3E98-2F60-552E3A28AA8B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8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5622DE2C-D8BC-05DA-6B06-5ABAA4B57EEE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A914F13F-2BA1-FE29-1DE9-B1849049A7E1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0F7A63"/>
                </a:solidFill>
                <a:latin typeface="Segoe UI Semibold" panose="020B0702040204020203" pitchFamily="34" charset="0"/>
              </a:rPr>
              <a:t>ÚVOD A HLAVNÍ POINTA SOFTWARE</a:t>
            </a:r>
            <a:endParaRPr lang="cs-CZ" sz="1100">
              <a:solidFill>
                <a:srgbClr val="0F7A6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17ECD7BB-D24D-4F06-E03D-891799AF5C82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Proč je v2 bezpečný základ pro každodenní provoz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2A46C804-16A8-6432-838E-C40255152B0D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8CA92C75-88CA-D947-8A46-22378A83C778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36610242-F722-9084-A340-D9DEBE9964F4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Dokumentovaný stav je čistý v2 build, zpevněný po produkčním auditu.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416494E2-5EB2-9C0C-28FB-86FAEFE56354}"/>
              </a:ext>
            </a:extLst>
          </p:cNvPr>
          <p:cNvSpPr/>
          <p:nvPr/>
        </p:nvSpPr>
        <p:spPr>
          <a:xfrm>
            <a:off x="812800" y="2743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ECAA31F1-97A8-A2B7-07A1-F8017446743E}"/>
              </a:ext>
            </a:extLst>
          </p:cNvPr>
          <p:cNvSpPr txBox="1"/>
          <p:nvPr/>
        </p:nvSpPr>
        <p:spPr>
          <a:xfrm>
            <a:off x="1117600" y="2682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Procedury z verze v1 v čistém zákaznickém buildu vůbec neexistují (na upgradu jsou blokované).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83FCA707-9E94-2085-A981-C09311759D68}"/>
              </a:ext>
            </a:extLst>
          </p:cNvPr>
          <p:cNvSpPr/>
          <p:nvPr/>
        </p:nvSpPr>
        <p:spPr>
          <a:xfrm>
            <a:off x="812800" y="3505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95297857-8034-7895-E85A-09C38EDC6B3E}"/>
              </a:ext>
            </a:extLst>
          </p:cNvPr>
          <p:cNvSpPr txBox="1"/>
          <p:nvPr/>
        </p:nvSpPr>
        <p:spPr>
          <a:xfrm>
            <a:off x="1117600" y="3444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Každý běh má tři jasné fáze: SELECT kandidátů, ARCHIVE do archivu, pak DELETE ze zdroje.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843E1E92-9C72-2120-A0D4-F8E2BD3F3FCD}"/>
              </a:ext>
            </a:extLst>
          </p:cNvPr>
          <p:cNvSpPr/>
          <p:nvPr/>
        </p:nvSpPr>
        <p:spPr>
          <a:xfrm>
            <a:off x="812800" y="4267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4CCD7875-EDE7-7457-1EB3-CE04903F8588}"/>
              </a:ext>
            </a:extLst>
          </p:cNvPr>
          <p:cNvSpPr txBox="1"/>
          <p:nvPr/>
        </p:nvSpPr>
        <p:spPr>
          <a:xfrm>
            <a:off x="1117600" y="4083279"/>
            <a:ext cx="102616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Žádné produkční table scany a žádné neomezené DELETE — výběr proběhne jednou, maže se přes indexovaný join.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C11E7C99-974A-0CD0-318C-68326F928646}"/>
              </a:ext>
            </a:extLst>
          </p:cNvPr>
          <p:cNvSpPr/>
          <p:nvPr/>
        </p:nvSpPr>
        <p:spPr>
          <a:xfrm>
            <a:off x="812800" y="5029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10B24379-A2DF-D3CF-89FF-2D5D17D7238C}"/>
              </a:ext>
            </a:extLst>
          </p:cNvPr>
          <p:cNvSpPr txBox="1"/>
          <p:nvPr/>
        </p:nvSpPr>
        <p:spPr>
          <a:xfrm>
            <a:off x="1117600" y="4968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Veškerý zápis konfigurace jde přes uložené procedury a každá změna se zaznamenává do auditu.</a:t>
            </a:r>
          </a:p>
        </p:txBody>
      </p:sp>
      <p:sp>
        <p:nvSpPr>
          <p:cNvPr id="19" name="Obdélník: se zakulacenými rohy 18">
            <a:extLst>
              <a:ext uri="{FF2B5EF4-FFF2-40B4-BE49-F238E27FC236}">
                <a16:creationId xmlns:a16="http://schemas.microsoft.com/office/drawing/2014/main" id="{EFDCC05D-D481-F082-A27D-E23185A34A6B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3F6E634F-B8C8-0CD8-F85D-F6AB57E4981E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2E554074-8876-6F55-79CC-4A118FF41CE3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v2 je přepsaný, auditovaný a zpevněný build s předvídatelným tří­fázovým během a kompletní auditní stopou.</a:t>
            </a:r>
          </a:p>
        </p:txBody>
      </p:sp>
    </p:spTree>
    <p:extLst>
      <p:ext uri="{BB962C8B-B14F-4D97-AF65-F5344CB8AC3E}">
        <p14:creationId xmlns:p14="http://schemas.microsoft.com/office/powerpoint/2010/main" val="1340699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0ADCA082-AC0E-D03A-4363-FD6B46FBF6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C2BF0FE8-20BD-D468-395A-624F4C4D65BA}"/>
              </a:ext>
            </a:extLst>
          </p:cNvPr>
          <p:cNvSpPr txBox="1"/>
          <p:nvPr/>
        </p:nvSpPr>
        <p:spPr>
          <a:xfrm>
            <a:off x="812800" y="2159000"/>
            <a:ext cx="2540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7200">
                <a:solidFill>
                  <a:srgbClr val="0F7A63"/>
                </a:solidFill>
                <a:latin typeface="Segoe UI Light" panose="020B0502040204020203" pitchFamily="34" charset="0"/>
              </a:rPr>
              <a:t>02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22BC2327-405A-FFD5-D682-9D27568AADA3}"/>
              </a:ext>
            </a:extLst>
          </p:cNvPr>
          <p:cNvSpPr/>
          <p:nvPr/>
        </p:nvSpPr>
        <p:spPr>
          <a:xfrm>
            <a:off x="889000" y="3429000"/>
            <a:ext cx="1143000" cy="50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1ED80966-AB12-77A1-87CE-90B006F5EDED}"/>
              </a:ext>
            </a:extLst>
          </p:cNvPr>
          <p:cNvSpPr txBox="1"/>
          <p:nvPr/>
        </p:nvSpPr>
        <p:spPr>
          <a:xfrm>
            <a:off x="812800" y="3683000"/>
            <a:ext cx="10566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3400">
                <a:solidFill>
                  <a:srgbClr val="FFFFFF"/>
                </a:solidFill>
                <a:latin typeface="Segoe UI Semibold" panose="020B0702040204020203" pitchFamily="34" charset="0"/>
              </a:rPr>
              <a:t>Princip chodu aplikace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28966237-695B-4A30-6CD8-595E51BCFD07}"/>
              </a:ext>
            </a:extLst>
          </p:cNvPr>
          <p:cNvSpPr txBox="1"/>
          <p:nvPr/>
        </p:nvSpPr>
        <p:spPr>
          <a:xfrm>
            <a:off x="812800" y="6350000"/>
            <a:ext cx="508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0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</p:spTree>
    <p:extLst>
      <p:ext uri="{BB962C8B-B14F-4D97-AF65-F5344CB8AC3E}">
        <p14:creationId xmlns:p14="http://schemas.microsoft.com/office/powerpoint/2010/main" val="3255500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86279105-DAA5-02B4-86A9-FC30EBBF64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92F0C557-0ACA-F809-78F3-4D8345A820E8}"/>
              </a:ext>
            </a:extLst>
          </p:cNvPr>
          <p:cNvSpPr txBox="1"/>
          <p:nvPr/>
        </p:nvSpPr>
        <p:spPr>
          <a:xfrm>
            <a:off x="812800" y="8128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600">
                <a:solidFill>
                  <a:srgbClr val="14202B"/>
                </a:solidFill>
                <a:latin typeface="Segoe UI Semibold" panose="020B0702040204020203" pitchFamily="34" charset="0"/>
              </a:rPr>
              <a:t>Tři role databází — a jak mezi nimi data tečou</a:t>
            </a:r>
            <a:endParaRPr lang="cs-CZ" sz="2600">
              <a:solidFill>
                <a:srgbClr val="14202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EA6E8778-CF4F-A1BB-2C34-4EE32E879CA4}"/>
              </a:ext>
            </a:extLst>
          </p:cNvPr>
          <p:cNvSpPr/>
          <p:nvPr/>
        </p:nvSpPr>
        <p:spPr>
          <a:xfrm>
            <a:off x="812800" y="1422400"/>
            <a:ext cx="4826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: se zakulacenými rohy 4">
            <a:extLst>
              <a:ext uri="{FF2B5EF4-FFF2-40B4-BE49-F238E27FC236}">
                <a16:creationId xmlns:a16="http://schemas.microsoft.com/office/drawing/2014/main" id="{ED1EAA1A-7757-21C2-BFF0-62DFE871AB08}"/>
              </a:ext>
            </a:extLst>
          </p:cNvPr>
          <p:cNvSpPr/>
          <p:nvPr/>
        </p:nvSpPr>
        <p:spPr>
          <a:xfrm>
            <a:off x="4826000" y="1651000"/>
            <a:ext cx="2540000" cy="711200"/>
          </a:xfrm>
          <a:prstGeom prst="roundRect">
            <a:avLst/>
          </a:prstGeom>
          <a:solidFill>
            <a:srgbClr val="0E1A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cs-CZ" sz="1300" b="1">
                <a:solidFill>
                  <a:srgbClr val="FFFFFF"/>
                </a:solidFill>
                <a:latin typeface="Segoe UI Semibold" panose="020B0702040204020203" pitchFamily="34" charset="0"/>
              </a:rPr>
              <a:t>Admin Console</a:t>
            </a:r>
          </a:p>
        </p:txBody>
      </p:sp>
      <p:sp>
        <p:nvSpPr>
          <p:cNvPr id="6" name="Obdélník: se zakulacenými rohy 5">
            <a:extLst>
              <a:ext uri="{FF2B5EF4-FFF2-40B4-BE49-F238E27FC236}">
                <a16:creationId xmlns:a16="http://schemas.microsoft.com/office/drawing/2014/main" id="{F6CD5473-98CA-EAB3-42D6-A45482A60E3E}"/>
              </a:ext>
            </a:extLst>
          </p:cNvPr>
          <p:cNvSpPr/>
          <p:nvPr/>
        </p:nvSpPr>
        <p:spPr>
          <a:xfrm>
            <a:off x="812800" y="3175000"/>
            <a:ext cx="2921000" cy="139700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5D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lang="cs-CZ" sz="1300" b="1">
                <a:solidFill>
                  <a:srgbClr val="14202B"/>
                </a:solidFill>
                <a:latin typeface="Segoe UI Semibold" panose="020B0702040204020203" pitchFamily="34" charset="0"/>
              </a:rPr>
              <a:t>Zdrojové DB zákazníka</a:t>
            </a:r>
          </a:p>
          <a:p>
            <a:pPr algn="ctr"/>
            <a:r>
              <a:rPr lang="cs-CZ" sz="1300" b="1">
                <a:solidFill>
                  <a:srgbClr val="14202B"/>
                </a:solidFill>
                <a:latin typeface="Segoe UI Semibold" panose="020B0702040204020203" pitchFamily="34" charset="0"/>
              </a:rPr>
              <a:t>(produkce / WMS)</a:t>
            </a:r>
          </a:p>
        </p:txBody>
      </p:sp>
      <p:sp>
        <p:nvSpPr>
          <p:cNvPr id="7" name="Obdélník: se zakulacenými rohy 6">
            <a:extLst>
              <a:ext uri="{FF2B5EF4-FFF2-40B4-BE49-F238E27FC236}">
                <a16:creationId xmlns:a16="http://schemas.microsoft.com/office/drawing/2014/main" id="{4DAC5DA0-A90D-8DAA-B5FE-7417311FBAEB}"/>
              </a:ext>
            </a:extLst>
          </p:cNvPr>
          <p:cNvSpPr/>
          <p:nvPr/>
        </p:nvSpPr>
        <p:spPr>
          <a:xfrm>
            <a:off x="4635500" y="3175000"/>
            <a:ext cx="2921000" cy="1397000"/>
          </a:xfrm>
          <a:prstGeom prst="roundRect">
            <a:avLst/>
          </a:prstGeom>
          <a:solidFill>
            <a:srgbClr val="E0F0EC"/>
          </a:solidFill>
          <a:ln w="12700">
            <a:solidFill>
              <a:srgbClr val="0F7A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lang="cs-CZ" sz="1200" b="1">
                <a:solidFill>
                  <a:srgbClr val="0B5C4B"/>
                </a:solidFill>
                <a:latin typeface="Segoe UI Semibold" panose="020B0702040204020203" pitchFamily="34" charset="0"/>
              </a:rPr>
              <a:t>Řídicí DB</a:t>
            </a:r>
          </a:p>
          <a:p>
            <a:pPr algn="ctr"/>
            <a:r>
              <a:rPr lang="cs-CZ" sz="1200" b="1">
                <a:solidFill>
                  <a:srgbClr val="0B5C4B"/>
                </a:solidFill>
                <a:latin typeface="Segoe UI Semibold" panose="020B0702040204020203" pitchFamily="34" charset="0"/>
              </a:rPr>
              <a:t>kArchiveManagerAdmin</a:t>
            </a:r>
          </a:p>
          <a:p>
            <a:pPr algn="ctr"/>
            <a:r>
              <a:rPr lang="cs-CZ" sz="1200" b="1">
                <a:solidFill>
                  <a:srgbClr val="0B5C4B"/>
                </a:solidFill>
                <a:latin typeface="Segoe UI Semibold" panose="020B0702040204020203" pitchFamily="34" charset="0"/>
              </a:rPr>
              <a:t>(konfigurace, běhy, audit)</a:t>
            </a:r>
          </a:p>
        </p:txBody>
      </p:sp>
      <p:sp>
        <p:nvSpPr>
          <p:cNvPr id="8" name="Obdélník: se zakulacenými rohy 7">
            <a:extLst>
              <a:ext uri="{FF2B5EF4-FFF2-40B4-BE49-F238E27FC236}">
                <a16:creationId xmlns:a16="http://schemas.microsoft.com/office/drawing/2014/main" id="{0BB044FE-40CD-59EE-974F-9CB52B415695}"/>
              </a:ext>
            </a:extLst>
          </p:cNvPr>
          <p:cNvSpPr/>
          <p:nvPr/>
        </p:nvSpPr>
        <p:spPr>
          <a:xfrm>
            <a:off x="8458200" y="3175000"/>
            <a:ext cx="2921000" cy="139700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5D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lang="cs-CZ" sz="1200" b="1">
                <a:solidFill>
                  <a:srgbClr val="14202B"/>
                </a:solidFill>
                <a:latin typeface="Segoe UI Semibold" panose="020B0702040204020203" pitchFamily="34" charset="0"/>
              </a:rPr>
              <a:t>Archivní DB</a:t>
            </a:r>
          </a:p>
          <a:p>
            <a:pPr algn="ctr"/>
            <a:r>
              <a:rPr lang="cs-CZ" sz="1200" b="1">
                <a:solidFill>
                  <a:srgbClr val="14202B"/>
                </a:solidFill>
                <a:latin typeface="Segoe UI Semibold" panose="020B0702040204020203" pitchFamily="34" charset="0"/>
              </a:rPr>
              <a:t>kArchiveManagerBackups</a:t>
            </a:r>
          </a:p>
          <a:p>
            <a:pPr algn="ctr"/>
            <a:r>
              <a:rPr lang="cs-CZ" sz="1200" b="1">
                <a:solidFill>
                  <a:srgbClr val="14202B"/>
                </a:solidFill>
                <a:latin typeface="Segoe UI Semibold" panose="020B0702040204020203" pitchFamily="34" charset="0"/>
              </a:rPr>
              <a:t>(backup-of-record)</a:t>
            </a:r>
          </a:p>
        </p:txBody>
      </p:sp>
      <p:sp>
        <p:nvSpPr>
          <p:cNvPr id="9" name="Obdélník: se zakulacenými rohy 8">
            <a:extLst>
              <a:ext uri="{FF2B5EF4-FFF2-40B4-BE49-F238E27FC236}">
                <a16:creationId xmlns:a16="http://schemas.microsoft.com/office/drawing/2014/main" id="{51AD9E26-8169-A846-3126-EF5CC744EC21}"/>
              </a:ext>
            </a:extLst>
          </p:cNvPr>
          <p:cNvSpPr/>
          <p:nvPr/>
        </p:nvSpPr>
        <p:spPr>
          <a:xfrm>
            <a:off x="4635500" y="5080000"/>
            <a:ext cx="2921000" cy="635000"/>
          </a:xfrm>
          <a:prstGeom prst="roundRect">
            <a:avLst/>
          </a:prstGeom>
          <a:solidFill>
            <a:srgbClr val="16263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US" sz="1000">
                <a:solidFill>
                  <a:srgbClr val="FFFFFF"/>
                </a:solidFill>
                <a:latin typeface="Segoe UI" panose="020B0502040204020203" pitchFamily="34" charset="0"/>
              </a:rPr>
              <a:t>SQL Agent — joby PREP / RUN / RECOVER / BACKUP</a:t>
            </a:r>
            <a:endParaRPr lang="cs-CZ" sz="10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cxnSp>
        <p:nvCxnSpPr>
          <p:cNvPr id="10" name="Přímá spojnice se šipkou 9">
            <a:extLst>
              <a:ext uri="{FF2B5EF4-FFF2-40B4-BE49-F238E27FC236}">
                <a16:creationId xmlns:a16="http://schemas.microsoft.com/office/drawing/2014/main" id="{0908A305-49BD-C51A-BF0E-9EBC33C7ABDF}"/>
              </a:ext>
            </a:extLst>
          </p:cNvPr>
          <p:cNvCxnSpPr/>
          <p:nvPr/>
        </p:nvCxnSpPr>
        <p:spPr>
          <a:xfrm>
            <a:off x="6096000" y="2362200"/>
            <a:ext cx="0" cy="812800"/>
          </a:xfrm>
          <a:prstGeom prst="straightConnector1">
            <a:avLst/>
          </a:prstGeom>
          <a:ln w="25400">
            <a:solidFill>
              <a:srgbClr val="5B6B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Přímá spojnice se šipkou 10">
            <a:extLst>
              <a:ext uri="{FF2B5EF4-FFF2-40B4-BE49-F238E27FC236}">
                <a16:creationId xmlns:a16="http://schemas.microsoft.com/office/drawing/2014/main" id="{A88F31DC-B43B-C0E8-C025-6A45C14545F1}"/>
              </a:ext>
            </a:extLst>
          </p:cNvPr>
          <p:cNvCxnSpPr/>
          <p:nvPr/>
        </p:nvCxnSpPr>
        <p:spPr>
          <a:xfrm flipV="1">
            <a:off x="6096000" y="4572000"/>
            <a:ext cx="0" cy="508000"/>
          </a:xfrm>
          <a:prstGeom prst="straightConnector1">
            <a:avLst/>
          </a:prstGeom>
          <a:ln w="25400">
            <a:solidFill>
              <a:srgbClr val="0F7A6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Přímá spojnice se šipkou 11">
            <a:extLst>
              <a:ext uri="{FF2B5EF4-FFF2-40B4-BE49-F238E27FC236}">
                <a16:creationId xmlns:a16="http://schemas.microsoft.com/office/drawing/2014/main" id="{74043DD1-3A26-1A0C-3E95-285042F4A9CA}"/>
              </a:ext>
            </a:extLst>
          </p:cNvPr>
          <p:cNvCxnSpPr/>
          <p:nvPr/>
        </p:nvCxnSpPr>
        <p:spPr>
          <a:xfrm flipH="1">
            <a:off x="3733800" y="3683000"/>
            <a:ext cx="901700" cy="0"/>
          </a:xfrm>
          <a:prstGeom prst="straightConnector1">
            <a:avLst/>
          </a:prstGeom>
          <a:ln w="38100">
            <a:solidFill>
              <a:srgbClr val="E8A3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Přímá spojnice se šipkou 12">
            <a:extLst>
              <a:ext uri="{FF2B5EF4-FFF2-40B4-BE49-F238E27FC236}">
                <a16:creationId xmlns:a16="http://schemas.microsoft.com/office/drawing/2014/main" id="{9F68BC16-B350-E91C-EFA4-56821ED1A748}"/>
              </a:ext>
            </a:extLst>
          </p:cNvPr>
          <p:cNvCxnSpPr/>
          <p:nvPr/>
        </p:nvCxnSpPr>
        <p:spPr>
          <a:xfrm>
            <a:off x="3733800" y="4191000"/>
            <a:ext cx="901700" cy="0"/>
          </a:xfrm>
          <a:prstGeom prst="straightConnector1">
            <a:avLst/>
          </a:prstGeom>
          <a:ln w="38100">
            <a:solidFill>
              <a:srgbClr val="0F7A6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Přímá spojnice se šipkou 13">
            <a:extLst>
              <a:ext uri="{FF2B5EF4-FFF2-40B4-BE49-F238E27FC236}">
                <a16:creationId xmlns:a16="http://schemas.microsoft.com/office/drawing/2014/main" id="{004E5F7A-83D4-6C90-624A-ACEF3AC28DFD}"/>
              </a:ext>
            </a:extLst>
          </p:cNvPr>
          <p:cNvCxnSpPr/>
          <p:nvPr/>
        </p:nvCxnSpPr>
        <p:spPr>
          <a:xfrm>
            <a:off x="7556500" y="3873500"/>
            <a:ext cx="901700" cy="0"/>
          </a:xfrm>
          <a:prstGeom prst="straightConnector1">
            <a:avLst/>
          </a:prstGeom>
          <a:ln w="38100">
            <a:solidFill>
              <a:srgbClr val="0F7A6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ovéPole 14">
            <a:extLst>
              <a:ext uri="{FF2B5EF4-FFF2-40B4-BE49-F238E27FC236}">
                <a16:creationId xmlns:a16="http://schemas.microsoft.com/office/drawing/2014/main" id="{6309D8A3-EE31-8D10-488F-0B6788D54CA8}"/>
              </a:ext>
            </a:extLst>
          </p:cNvPr>
          <p:cNvSpPr txBox="1"/>
          <p:nvPr/>
        </p:nvSpPr>
        <p:spPr>
          <a:xfrm>
            <a:off x="3810000" y="2794000"/>
            <a:ext cx="254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E8A33D"/>
                </a:solidFill>
                <a:latin typeface="Segoe UI" panose="020B0502040204020203" pitchFamily="34" charset="0"/>
              </a:rPr>
              <a:t>1 · výběr kandidátů (NOLOCK)</a:t>
            </a: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A53531BF-CBAE-B33A-834C-94D5BF2F0E59}"/>
              </a:ext>
            </a:extLst>
          </p:cNvPr>
          <p:cNvSpPr txBox="1"/>
          <p:nvPr/>
        </p:nvSpPr>
        <p:spPr>
          <a:xfrm>
            <a:off x="7569200" y="35814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0B5C4B"/>
                </a:solidFill>
                <a:latin typeface="Segoe UI" panose="020B0502040204020203" pitchFamily="34" charset="0"/>
              </a:rPr>
              <a:t>2 · zápis do archivu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62A44931-D937-DE2F-7002-31C6D684B6EF}"/>
              </a:ext>
            </a:extLst>
          </p:cNvPr>
          <p:cNvSpPr txBox="1"/>
          <p:nvPr/>
        </p:nvSpPr>
        <p:spPr>
          <a:xfrm>
            <a:off x="812800" y="4648200"/>
            <a:ext cx="355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900">
                <a:solidFill>
                  <a:srgbClr val="5B6B78"/>
                </a:solidFill>
                <a:latin typeface="Segoe UI" panose="020B0502040204020203" pitchFamily="34" charset="0"/>
              </a:rPr>
              <a:t>3 · smazání ze zdroje až PO archivaci</a:t>
            </a:r>
            <a:endParaRPr lang="cs-CZ" sz="900">
              <a:solidFill>
                <a:srgbClr val="5B6B78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57C14C97-31E3-FA9E-56F1-DCA8D3CF2C73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97FA40E2-8CFE-00B8-ED99-BE7E385E4EE3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endParaRPr lang="cs-CZ" sz="900">
              <a:solidFill>
                <a:srgbClr val="5B6B78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DEBB4025-5C6A-8D5A-625A-7EEF84267964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91999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45BB985B-B5D9-A91B-98D4-8B0F2FB11F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2A4E0EDA-21A1-A963-E7B6-DEAA1AD8A8B2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ADCD4751-5D76-C9A7-C387-020845355B89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11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041B1DBB-7C01-EEA5-D956-6EE539C535FD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8A5CD846-C5B0-F696-83D8-872D9ABCA111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PRINCIP CHODU APLIKACE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6F7B4250-E703-13E8-D2BC-B2404250DD47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Tři role databází: Admin, Archiv a zdrojové DB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CC9B7640-3F5B-239F-B973-FC83C5E7462D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96ED85FE-17CF-94B0-A1A6-40248037EB09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164E6F8E-1487-FE2F-4408-94EB43456F8D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Admin DB je řídicí mozek: drží konfiguraci procesů i celý audit běhů.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ECEC67E1-38C1-605D-9052-6E4A36265D09}"/>
              </a:ext>
            </a:extLst>
          </p:cNvPr>
          <p:cNvSpPr/>
          <p:nvPr/>
        </p:nvSpPr>
        <p:spPr>
          <a:xfrm>
            <a:off x="812800" y="2743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86AB3B00-C6ED-FA2B-4080-0013F6A0AC30}"/>
              </a:ext>
            </a:extLst>
          </p:cNvPr>
          <p:cNvSpPr txBox="1"/>
          <p:nvPr/>
        </p:nvSpPr>
        <p:spPr>
          <a:xfrm>
            <a:off x="1117600" y="2682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Archivní DB (kArchiveManagerBackups) přijímá archivovaná data ze zdrojových tabulek.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6B998905-D64B-5F62-ACED-AF76894EEE42}"/>
              </a:ext>
            </a:extLst>
          </p:cNvPr>
          <p:cNvSpPr/>
          <p:nvPr/>
        </p:nvSpPr>
        <p:spPr>
          <a:xfrm>
            <a:off x="812800" y="3505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01D94958-6C5A-9C28-BDB2-012A2689F191}"/>
              </a:ext>
            </a:extLst>
          </p:cNvPr>
          <p:cNvSpPr txBox="1"/>
          <p:nvPr/>
        </p:nvSpPr>
        <p:spPr>
          <a:xfrm>
            <a:off x="1117600" y="3444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Zdrojové DB (např. Edge, KMWEBV) jsou produkční databáze, ze kterých se data odlehčují.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15FB250F-5C2D-0357-5886-C05BFC406671}"/>
              </a:ext>
            </a:extLst>
          </p:cNvPr>
          <p:cNvSpPr/>
          <p:nvPr/>
        </p:nvSpPr>
        <p:spPr>
          <a:xfrm>
            <a:off x="812800" y="4267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14092053-65D3-476D-EECD-E7016B3D8189}"/>
              </a:ext>
            </a:extLst>
          </p:cNvPr>
          <p:cNvSpPr txBox="1"/>
          <p:nvPr/>
        </p:nvSpPr>
        <p:spPr>
          <a:xfrm>
            <a:off x="1117600" y="4206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Admin Console pracuje s konfigurací a auditem uloženými v Admin DB.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EE93F4D2-7F0E-7589-21CD-0F3F0CF21916}"/>
              </a:ext>
            </a:extLst>
          </p:cNvPr>
          <p:cNvSpPr/>
          <p:nvPr/>
        </p:nvSpPr>
        <p:spPr>
          <a:xfrm>
            <a:off x="812800" y="5029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B6446692-9C4C-9EEB-BA93-B6C782A30361}"/>
              </a:ext>
            </a:extLst>
          </p:cNvPr>
          <p:cNvSpPr txBox="1"/>
          <p:nvPr/>
        </p:nvSpPr>
        <p:spPr>
          <a:xfrm>
            <a:off x="1117600" y="4968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Chování není zadrátované v kódu procesu — řídí ho metadata (konfigurace) v Admin DB.</a:t>
            </a:r>
          </a:p>
        </p:txBody>
      </p:sp>
      <p:sp>
        <p:nvSpPr>
          <p:cNvPr id="19" name="Obdélník: se zakulacenými rohy 18">
            <a:extLst>
              <a:ext uri="{FF2B5EF4-FFF2-40B4-BE49-F238E27FC236}">
                <a16:creationId xmlns:a16="http://schemas.microsoft.com/office/drawing/2014/main" id="{160C567B-AD7B-0C4E-F192-9E296FB5BBD0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AE8E3636-4399-D509-C134-2AEA9571C3AF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F497FF99-B9AE-40A1-B004-3D898164120D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Admin DB řídí a auditovuje, archivní DB ukládá, zdrojové DB se odlehčují — tři jasně oddělené role.</a:t>
            </a:r>
          </a:p>
        </p:txBody>
      </p:sp>
    </p:spTree>
    <p:extLst>
      <p:ext uri="{BB962C8B-B14F-4D97-AF65-F5344CB8AC3E}">
        <p14:creationId xmlns:p14="http://schemas.microsoft.com/office/powerpoint/2010/main" val="4174704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A7D1B7A0-ED2A-2877-52F1-AC0C87E7E1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D40D9267-39B2-D006-1C8C-5CF6C86D7099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0EDE6238-0AAB-D92B-4B94-E3218DEB3E85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12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BC96204F-E027-96AB-DC65-3A54A19AB0E1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375F5722-D764-2E25-1C7C-12870ADADA3D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PRINCIP CHODU APLIKACE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530E7D07-A943-9F97-323D-3339355E068C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Tři fáze jednoho běhu: výběr → archivace → smazání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FFAFB690-176C-9914-4FC2-070B3A27CB26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36920BBA-2A2A-10A8-BE24-82BC8D916DAE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182A0B7E-D20D-7998-4246-E86DDC7E4580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1) Výběr kandidátů: nalezené řádky se uloží do znovuspustitelného seznamu klíčů.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61A12B45-501B-15D9-3E03-20FAE940F891}"/>
              </a:ext>
            </a:extLst>
          </p:cNvPr>
          <p:cNvSpPr/>
          <p:nvPr/>
        </p:nvSpPr>
        <p:spPr>
          <a:xfrm>
            <a:off x="812800" y="2743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B562A578-1EE1-CA2C-5AD8-7F6245973E89}"/>
              </a:ext>
            </a:extLst>
          </p:cNvPr>
          <p:cNvSpPr txBox="1"/>
          <p:nvPr/>
        </p:nvSpPr>
        <p:spPr>
          <a:xfrm>
            <a:off x="1117600" y="2682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2) Archivace: nakonfigurované objekty se zkopírují ze zdroje do archivní DB.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165ED08E-E834-0CD4-D39A-F28F10D0C7E9}"/>
              </a:ext>
            </a:extLst>
          </p:cNvPr>
          <p:cNvSpPr/>
          <p:nvPr/>
        </p:nvSpPr>
        <p:spPr>
          <a:xfrm>
            <a:off x="812800" y="3505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779FA791-104A-D4EC-E70C-C122F25107F9}"/>
              </a:ext>
            </a:extLst>
          </p:cNvPr>
          <p:cNvSpPr txBox="1"/>
          <p:nvPr/>
        </p:nvSpPr>
        <p:spPr>
          <a:xfrm>
            <a:off x="1117600" y="3444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3) Smazání: zdrojové řádky se smažou napojením na ten samý seznam klíčů.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CBD1B81E-0945-1E46-7353-BE20796079D2}"/>
              </a:ext>
            </a:extLst>
          </p:cNvPr>
          <p:cNvSpPr/>
          <p:nvPr/>
        </p:nvSpPr>
        <p:spPr>
          <a:xfrm>
            <a:off x="812800" y="4267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0325EB89-A8DC-D1B9-5672-FFE6A05C67DE}"/>
              </a:ext>
            </a:extLst>
          </p:cNvPr>
          <p:cNvSpPr txBox="1"/>
          <p:nvPr/>
        </p:nvSpPr>
        <p:spPr>
          <a:xfrm>
            <a:off x="1117600" y="4206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Runner záměrně neskenuje opakovaně velké tabulky generickým DELETE TOP.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E9C3EBFF-C303-0654-89BA-A8F418CAD5F4}"/>
              </a:ext>
            </a:extLst>
          </p:cNvPr>
          <p:cNvSpPr/>
          <p:nvPr/>
        </p:nvSpPr>
        <p:spPr>
          <a:xfrm>
            <a:off x="812800" y="5029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C0533FE2-7C28-D3E7-4716-F8F4C2A99B47}"/>
              </a:ext>
            </a:extLst>
          </p:cNvPr>
          <p:cNvSpPr txBox="1"/>
          <p:nvPr/>
        </p:nvSpPr>
        <p:spPr>
          <a:xfrm>
            <a:off x="1117600" y="4968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Každý běh zapisuje audit do tabulek arch.Run, RunItem, RunItemObject a RunDocAudit.</a:t>
            </a:r>
          </a:p>
        </p:txBody>
      </p:sp>
      <p:sp>
        <p:nvSpPr>
          <p:cNvPr id="19" name="Obdélník: se zakulacenými rohy 18">
            <a:extLst>
              <a:ext uri="{FF2B5EF4-FFF2-40B4-BE49-F238E27FC236}">
                <a16:creationId xmlns:a16="http://schemas.microsoft.com/office/drawing/2014/main" id="{6A858A07-FB9C-36AA-F41F-3027B19ED4E5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C5C48502-6344-E579-1B2D-65D72EE8288D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F29976B4-A69D-CD31-F96C-EA5ACEDB0AF3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Každý běh jede ve třech krocích — vyber, archivuj, smaž — a vše se zaznamená do auditu.</a:t>
            </a:r>
          </a:p>
        </p:txBody>
      </p:sp>
    </p:spTree>
    <p:extLst>
      <p:ext uri="{BB962C8B-B14F-4D97-AF65-F5344CB8AC3E}">
        <p14:creationId xmlns:p14="http://schemas.microsoft.com/office/powerpoint/2010/main" val="2116346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E6B5DD06-C5E9-F9FA-132D-2065ECC8D6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4E88C046-175F-3822-8474-98D8ADA104C8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79DFE594-E555-6D0B-468C-FAD0C723D099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13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1BC5D3C3-693A-3301-621B-BED4FF8B1CBB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4EEA8124-CA9B-BCCB-668A-0A68D8770543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PRINCIP CHODU APLIKACE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8CE86F6B-A047-3EBD-3A7F-D251F5CFBB3D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Strategie výběru: TIMESTAMP versus ANCHOR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7C06B597-92F7-755D-920C-CFCB2F0CCA8A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C8C1B736-66FF-09A4-D59F-AF3F9EF19174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F52C8F1A-EED0-04CB-F39A-AB8B103B2537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pt-BR" sz="1600">
                <a:solidFill>
                  <a:srgbClr val="14202B"/>
                </a:solidFill>
                <a:latin typeface="Segoe UI" panose="020B0502040204020203" pitchFamily="34" charset="0"/>
              </a:rPr>
              <a:t>TIMESTAMP se používá na časovou retenci logů a historie podle data ve sloupci.</a:t>
            </a:r>
            <a:endParaRPr lang="cs-CZ" sz="1600">
              <a:solidFill>
                <a:srgbClr val="14202B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E11B8D5D-07DD-22FC-9824-AC4A78765062}"/>
              </a:ext>
            </a:extLst>
          </p:cNvPr>
          <p:cNvSpPr/>
          <p:nvPr/>
        </p:nvSpPr>
        <p:spPr>
          <a:xfrm>
            <a:off x="812800" y="2743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BCD4234E-F2FA-8F61-C363-14C0983FEAE6}"/>
              </a:ext>
            </a:extLst>
          </p:cNvPr>
          <p:cNvSpPr txBox="1"/>
          <p:nvPr/>
        </p:nvSpPr>
        <p:spPr>
          <a:xfrm>
            <a:off x="1117600" y="2682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ANCHOR se používá pro modely rodič–potomek (dokumentové procesy jako SHIPPING, RECEIVING).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43B4334F-F3CD-F3BF-A31F-0896A71705E2}"/>
              </a:ext>
            </a:extLst>
          </p:cNvPr>
          <p:cNvSpPr/>
          <p:nvPr/>
        </p:nvSpPr>
        <p:spPr>
          <a:xfrm>
            <a:off x="812800" y="3505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EF0A0F91-AE45-7E7E-88F5-58ACC19FE726}"/>
              </a:ext>
            </a:extLst>
          </p:cNvPr>
          <p:cNvSpPr txBox="1"/>
          <p:nvPr/>
        </p:nvSpPr>
        <p:spPr>
          <a:xfrm>
            <a:off x="1117600" y="3444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Cutoff je hraniční čas: zpracuje se jen to, co je starší než tento bod (porovnání v UTC).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4CF94302-1BDB-4C55-D39B-A3E6667A6B2D}"/>
              </a:ext>
            </a:extLst>
          </p:cNvPr>
          <p:cNvSpPr/>
          <p:nvPr/>
        </p:nvSpPr>
        <p:spPr>
          <a:xfrm>
            <a:off x="812800" y="4267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8AF3A236-5F33-B17E-383F-B0B7B06D5F33}"/>
              </a:ext>
            </a:extLst>
          </p:cNvPr>
          <p:cNvSpPr txBox="1"/>
          <p:nvPr/>
        </p:nvSpPr>
        <p:spPr>
          <a:xfrm>
            <a:off x="1117600" y="4206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600">
                <a:solidFill>
                  <a:srgbClr val="14202B"/>
                </a:solidFill>
                <a:latin typeface="Segoe UI" panose="020B0502040204020203" pitchFamily="34" charset="0"/>
              </a:rPr>
              <a:t>Existují i další strategie (KEYSET, RANGE, PARTITION, ORPHAN) pro speciální datové modely.</a:t>
            </a:r>
            <a:endParaRPr lang="cs-CZ" sz="1600">
              <a:solidFill>
                <a:srgbClr val="14202B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C5910E4F-4CB7-B78B-B38A-7234DA09BEB7}"/>
              </a:ext>
            </a:extLst>
          </p:cNvPr>
          <p:cNvSpPr/>
          <p:nvPr/>
        </p:nvSpPr>
        <p:spPr>
          <a:xfrm>
            <a:off x="812800" y="5029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A5B710C5-187D-0726-5F21-791F7C30B705}"/>
              </a:ext>
            </a:extLst>
          </p:cNvPr>
          <p:cNvSpPr txBox="1"/>
          <p:nvPr/>
        </p:nvSpPr>
        <p:spPr>
          <a:xfrm>
            <a:off x="1117600" y="4968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Strategie je atribut procesu v konfiguraci, mění se v Admin Console, ne v kódu.</a:t>
            </a:r>
          </a:p>
        </p:txBody>
      </p:sp>
      <p:sp>
        <p:nvSpPr>
          <p:cNvPr id="19" name="Obdélník: se zakulacenými rohy 18">
            <a:extLst>
              <a:ext uri="{FF2B5EF4-FFF2-40B4-BE49-F238E27FC236}">
                <a16:creationId xmlns:a16="http://schemas.microsoft.com/office/drawing/2014/main" id="{4802CAE5-102D-1022-CB66-5AFC1D7E43CD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A8F0A2AE-8D19-D2F5-7AFF-19183B220ED7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90A39130-C527-CA94-A853-FF12F1E880F2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TIMESTAMP řeší logy podle času, ANCHOR řeší dokumenty s vazbami — cutoff určuje, co je na řadě.</a:t>
            </a:r>
          </a:p>
        </p:txBody>
      </p:sp>
    </p:spTree>
    <p:extLst>
      <p:ext uri="{BB962C8B-B14F-4D97-AF65-F5344CB8AC3E}">
        <p14:creationId xmlns:p14="http://schemas.microsoft.com/office/powerpoint/2010/main" val="3865218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E17DDDA6-A405-9DDA-2E16-79207493F1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E935E95D-2BA2-4151-5536-5EEB2D05401C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5DC8B705-E702-DBCA-68E0-EC9BBC07CB32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14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C01CF8DB-6211-AB52-5DAA-4D81B2F0074C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45C7F6F4-6690-C61B-543A-94D448A1367F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PRINCIP CHODU APLIKACE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73FCD2D2-404A-7ACD-6D25-184485F67475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Run mode a audit level: dva nezávislé přepínače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8279F200-F676-0840-2340-29274572FFB2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82F282A7-601A-5772-4327-C4B8C3D0B17F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A8C4AE27-A797-094B-7F07-E9F5E88A8A60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Run mode řídí, zda se data opravdu mění: DryRun = 1 je jen náhled, jinak ostrý běh.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FF615085-8260-0B5E-5479-82062C5D5243}"/>
              </a:ext>
            </a:extLst>
          </p:cNvPr>
          <p:cNvSpPr/>
          <p:nvPr/>
        </p:nvSpPr>
        <p:spPr>
          <a:xfrm>
            <a:off x="812800" y="2743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2FB886A8-70BC-2FDD-1113-6313560FA264}"/>
              </a:ext>
            </a:extLst>
          </p:cNvPr>
          <p:cNvSpPr txBox="1"/>
          <p:nvPr/>
        </p:nvSpPr>
        <p:spPr>
          <a:xfrm>
            <a:off x="1117600" y="2682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Audit level řídí, kolik důkazů se zapíše: NONE, BATCH, OBJECT nebo ROW.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0FC629EC-1766-50AB-95F6-8BE9291A9673}"/>
              </a:ext>
            </a:extLst>
          </p:cNvPr>
          <p:cNvSpPr/>
          <p:nvPr/>
        </p:nvSpPr>
        <p:spPr>
          <a:xfrm>
            <a:off x="812800" y="3505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1A5FA212-05EF-F89E-72EC-DC6D1D03C9F6}"/>
              </a:ext>
            </a:extLst>
          </p:cNvPr>
          <p:cNvSpPr txBox="1"/>
          <p:nvPr/>
        </p:nvSpPr>
        <p:spPr>
          <a:xfrm>
            <a:off x="1117600" y="3444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ROW zapíše jeden řádek auditu na každý klíč — důkaz pro každý dokument.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4812B4DE-E8FB-B1E6-BD82-5A40F5B977FD}"/>
              </a:ext>
            </a:extLst>
          </p:cNvPr>
          <p:cNvSpPr/>
          <p:nvPr/>
        </p:nvSpPr>
        <p:spPr>
          <a:xfrm>
            <a:off x="812800" y="4267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67062274-51CE-3E37-B7FF-E41756D67542}"/>
              </a:ext>
            </a:extLst>
          </p:cNvPr>
          <p:cNvSpPr txBox="1"/>
          <p:nvPr/>
        </p:nvSpPr>
        <p:spPr>
          <a:xfrm>
            <a:off x="1117600" y="4206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NONE vypne audit po klíčích a je nejrychlejší pro velké objemy logů.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FEF97FAE-01E9-5463-E97F-ABCFF7792469}"/>
              </a:ext>
            </a:extLst>
          </p:cNvPr>
          <p:cNvSpPr/>
          <p:nvPr/>
        </p:nvSpPr>
        <p:spPr>
          <a:xfrm>
            <a:off x="812800" y="5029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F0F38BC9-16F0-3B0C-9814-3F4FB89D275C}"/>
              </a:ext>
            </a:extLst>
          </p:cNvPr>
          <p:cNvSpPr txBox="1"/>
          <p:nvPr/>
        </p:nvSpPr>
        <p:spPr>
          <a:xfrm>
            <a:off x="1117600" y="4968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Oba přepínače se nastavují per proces a per zdrojová databáze v konfiguraci.</a:t>
            </a:r>
          </a:p>
        </p:txBody>
      </p:sp>
      <p:sp>
        <p:nvSpPr>
          <p:cNvPr id="19" name="Obdélník: se zakulacenými rohy 18">
            <a:extLst>
              <a:ext uri="{FF2B5EF4-FFF2-40B4-BE49-F238E27FC236}">
                <a16:creationId xmlns:a16="http://schemas.microsoft.com/office/drawing/2014/main" id="{9B53C479-10A8-486C-ED4B-F7ED889B28A4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DC4FBE8B-FBE7-3002-CF31-188D057989A7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9CA52B1B-D232-C8FF-2AAB-3BEDF69D19B5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Run mode rozhoduje náhled vs ostrý běh, audit level rozhoduje míru důkazů — nastavují se nezávisle.</a:t>
            </a:r>
          </a:p>
        </p:txBody>
      </p:sp>
    </p:spTree>
    <p:extLst>
      <p:ext uri="{BB962C8B-B14F-4D97-AF65-F5344CB8AC3E}">
        <p14:creationId xmlns:p14="http://schemas.microsoft.com/office/powerpoint/2010/main" val="2735414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8545EFC6-5C31-6496-F7B2-94F0241A8D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C00C598-C57D-A9DC-BE7B-1AD061CC1EDA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DF57E764-EF7A-4E25-5BA0-8CDCDC2D57B8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15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D02BFD3C-1425-131A-2784-77D8B540A7CC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A6728D72-6205-BAF5-017A-1EF372EF3353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PRINCIP CHODU APLIKACE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008BDB1C-7E34-AE52-30D8-65520480A531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DryRun náhled: bezpečné spuštění nanečisto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7E0420F7-79E9-AC7F-DCF8-6674151E334B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90BC1588-BCB7-9792-C582-420DA75E1715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2B0B278F-58DF-ED54-301A-02D57CDBC530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DryRun nic nemaže ani nezapisuje do archivu — používá ale stejné mapování jako ostrý běh.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1030F512-BACC-BB62-77D5-84DC943E0D82}"/>
              </a:ext>
            </a:extLst>
          </p:cNvPr>
          <p:cNvSpPr/>
          <p:nvPr/>
        </p:nvSpPr>
        <p:spPr>
          <a:xfrm>
            <a:off x="812800" y="2743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F19D2294-0F93-679F-7E5D-F9454F522B69}"/>
              </a:ext>
            </a:extLst>
          </p:cNvPr>
          <p:cNvSpPr txBox="1"/>
          <p:nvPr/>
        </p:nvSpPr>
        <p:spPr>
          <a:xfrm>
            <a:off x="1117600" y="2682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Vrátí počty kandidátů a hodnoty cutoffu, aby operátor zkontroloval rozsah.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C087F0E1-728C-1D78-B2EC-E63A28AC9C10}"/>
              </a:ext>
            </a:extLst>
          </p:cNvPr>
          <p:cNvSpPr/>
          <p:nvPr/>
        </p:nvSpPr>
        <p:spPr>
          <a:xfrm>
            <a:off x="812800" y="3505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7E952D8B-3BA6-CE94-1098-293E1040BF54}"/>
              </a:ext>
            </a:extLst>
          </p:cNvPr>
          <p:cNvSpPr txBox="1"/>
          <p:nvPr/>
        </p:nvSpPr>
        <p:spPr>
          <a:xfrm>
            <a:off x="1117600" y="3444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Náhled nezaručuje, že ostrý běh uvidí přesně stejné kandidáty — zdrojová data se mění.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3657E0FB-E6CD-D972-7AF6-A0515046112B}"/>
              </a:ext>
            </a:extLst>
          </p:cNvPr>
          <p:cNvSpPr/>
          <p:nvPr/>
        </p:nvSpPr>
        <p:spPr>
          <a:xfrm>
            <a:off x="812800" y="4267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5184E9D8-3CDC-C9A9-8A6D-712BF36E0B3B}"/>
              </a:ext>
            </a:extLst>
          </p:cNvPr>
          <p:cNvSpPr txBox="1"/>
          <p:nvPr/>
        </p:nvSpPr>
        <p:spPr>
          <a:xfrm>
            <a:off x="1117600" y="4206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Náhled neprokáže, že archivace a mazání projdou (práva, zámky, deadlock mohou selhat).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745ACD1C-863A-5907-16ED-4AB2B17D7F33}"/>
              </a:ext>
            </a:extLst>
          </p:cNvPr>
          <p:cNvSpPr/>
          <p:nvPr/>
        </p:nvSpPr>
        <p:spPr>
          <a:xfrm>
            <a:off x="812800" y="5029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F9E62C2F-95F9-DF4D-2491-4D53805ACB97}"/>
              </a:ext>
            </a:extLst>
          </p:cNvPr>
          <p:cNvSpPr txBox="1"/>
          <p:nvPr/>
        </p:nvSpPr>
        <p:spPr>
          <a:xfrm>
            <a:off x="1117600" y="4968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Po kontrole se náhledové dávky uzavřou procedurou arch.usp_CloseDryRunWorkBatches.</a:t>
            </a:r>
          </a:p>
        </p:txBody>
      </p:sp>
      <p:sp>
        <p:nvSpPr>
          <p:cNvPr id="19" name="Obdélník: se zakulacenými rohy 18">
            <a:extLst>
              <a:ext uri="{FF2B5EF4-FFF2-40B4-BE49-F238E27FC236}">
                <a16:creationId xmlns:a16="http://schemas.microsoft.com/office/drawing/2014/main" id="{17D23BF9-49DA-E5AC-5CB7-A94FF498BF86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3CF2FA0F-0449-E165-A05F-75212B55A767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000655BC-6D9C-0E45-7FED-733F9186D9DF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DryRun ukáže rozsah a cutoff bez jediné změny dat — povinný krok před prvním ostrým během.</a:t>
            </a:r>
          </a:p>
        </p:txBody>
      </p:sp>
    </p:spTree>
    <p:extLst>
      <p:ext uri="{BB962C8B-B14F-4D97-AF65-F5344CB8AC3E}">
        <p14:creationId xmlns:p14="http://schemas.microsoft.com/office/powerpoint/2010/main" val="3595854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41670A87-5C50-D038-F5ED-C118C0542E5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09D76548-9F1C-81A2-7F04-5DE32E2879FA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8C8DDBBB-C83E-327F-FE60-858CBC452920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16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FD709EBC-5747-9E48-715B-B967C49F6445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3A6C8A89-15DC-6B7D-5CC5-D69060E889BB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PRINCIP CHODU APLIKACE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8D036469-1B21-4E56-E561-4B9AA53CFFBB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Bezpečnost: mazání až po úspěšné archivaci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E455E11F-0104-D01D-EB7E-09588FFDE63C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117897F5-0986-95D7-993C-EC0F63279693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B5798E6A-903D-3594-2F83-359063BB9B84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Zdrojové řádky se smažou výhradně po úspěšném vložení do archivu, ve stejné transakci.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62646B1A-E535-AC8F-A1FF-9A8C39CD21AF}"/>
              </a:ext>
            </a:extLst>
          </p:cNvPr>
          <p:cNvSpPr/>
          <p:nvPr/>
        </p:nvSpPr>
        <p:spPr>
          <a:xfrm>
            <a:off x="812800" y="2743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F586F7F4-9323-AD90-D977-3B740F780191}"/>
              </a:ext>
            </a:extLst>
          </p:cNvPr>
          <p:cNvSpPr txBox="1"/>
          <p:nvPr/>
        </p:nvSpPr>
        <p:spPr>
          <a:xfrm>
            <a:off x="1117600" y="2682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Při režimu Mode = 1 obsahuje archivní tabulka archivovaná data i u auditu NONE.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EC023F36-3ACB-E86C-F7B9-24FD367FB774}"/>
              </a:ext>
            </a:extLst>
          </p:cNvPr>
          <p:cNvSpPr/>
          <p:nvPr/>
        </p:nvSpPr>
        <p:spPr>
          <a:xfrm>
            <a:off x="812800" y="3505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73636B83-B4F9-02D7-EB0F-17BEC2E4E38B}"/>
              </a:ext>
            </a:extLst>
          </p:cNvPr>
          <p:cNvSpPr txBox="1"/>
          <p:nvPr/>
        </p:nvSpPr>
        <p:spPr>
          <a:xfrm>
            <a:off x="1117600" y="3444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Doporučený postup: nejdřív DryRun, zkontrolovat rozsah, pak malý hlídaný ostrý běh.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290A1F28-E822-C976-E558-E8ACEE19326A}"/>
              </a:ext>
            </a:extLst>
          </p:cNvPr>
          <p:cNvSpPr/>
          <p:nvPr/>
        </p:nvSpPr>
        <p:spPr>
          <a:xfrm>
            <a:off x="812800" y="4267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C9E4352B-C80B-D022-4F87-BC20200803C9}"/>
              </a:ext>
            </a:extLst>
          </p:cNvPr>
          <p:cNvSpPr txBox="1"/>
          <p:nvPr/>
        </p:nvSpPr>
        <p:spPr>
          <a:xfrm>
            <a:off x="1117600" y="4206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Po každém ostrém běhu se stav kontroluje v přehledu arch.v_OperationalHealth.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85B4963C-576D-B1CD-A6B4-6B77EE129583}"/>
              </a:ext>
            </a:extLst>
          </p:cNvPr>
          <p:cNvSpPr/>
          <p:nvPr/>
        </p:nvSpPr>
        <p:spPr>
          <a:xfrm>
            <a:off x="812800" y="5029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C70A017D-9407-4B5B-170D-1B2D7518B08A}"/>
              </a:ext>
            </a:extLst>
          </p:cNvPr>
          <p:cNvSpPr txBox="1"/>
          <p:nvPr/>
        </p:nvSpPr>
        <p:spPr>
          <a:xfrm>
            <a:off x="1117600" y="4968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Čistý systém nemá řádky ERROR; FAILED_RECENT po záměrném testu je třeba vysvětlit.</a:t>
            </a:r>
          </a:p>
        </p:txBody>
      </p:sp>
      <p:sp>
        <p:nvSpPr>
          <p:cNvPr id="19" name="Obdélník: se zakulacenými rohy 18">
            <a:extLst>
              <a:ext uri="{FF2B5EF4-FFF2-40B4-BE49-F238E27FC236}">
                <a16:creationId xmlns:a16="http://schemas.microsoft.com/office/drawing/2014/main" id="{761CB415-5FA8-E918-EBBE-820622D6286A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46B92D56-637B-24C0-85BD-E153D8EA154E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83745577-5173-9B20-990B-E42281034CDA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Žádný řádek se nesmaže dřív, než je bezpečně v archivu — a stav každého běhu se ověří v Operational Health.</a:t>
            </a:r>
          </a:p>
        </p:txBody>
      </p:sp>
    </p:spTree>
    <p:extLst>
      <p:ext uri="{BB962C8B-B14F-4D97-AF65-F5344CB8AC3E}">
        <p14:creationId xmlns:p14="http://schemas.microsoft.com/office/powerpoint/2010/main" val="1228762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8025C44D-0232-C219-F735-1F24B3949D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A6E751B7-7F2F-8A30-F751-92161DBEA014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B22A83E5-C106-3D6A-6D67-0186CDA07B5C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17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CB85DD13-E40C-EF41-FA79-58C4DABD070D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804EC6D1-5DA4-7026-7801-1B175500F99B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PRINCIP CHODU APLIKACE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6260441E-894A-55CC-A8E5-20308618A124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Vysoký výkon: sargable cutoff a malé dávky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1CB25EAF-516C-22D9-17E3-BFD4A8BA7688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9A035735-D133-E43C-9F55-8865F7FF11F4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0522698E-167E-598A-046C-14B0F3DB46CF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Cíl je zvládnout tabulky s 50–100M+ řádků bez skenování celé tabulky.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54174A6E-58EB-799E-BF73-A8AC479E8765}"/>
              </a:ext>
            </a:extLst>
          </p:cNvPr>
          <p:cNvSpPr/>
          <p:nvPr/>
        </p:nvSpPr>
        <p:spPr>
          <a:xfrm>
            <a:off x="812800" y="2743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3D9CCFF8-64A1-80E2-7E65-35CFF0C60E7D}"/>
              </a:ext>
            </a:extLst>
          </p:cNvPr>
          <p:cNvSpPr txBox="1"/>
          <p:nvPr/>
        </p:nvSpPr>
        <p:spPr>
          <a:xfrm>
            <a:off x="1117600" y="2682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Dávkování: kandidáti se zpracují po malých, znovuspustitelných dávkách kvůli růstu logu.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6CB03BF6-2085-23D3-B532-2EA2E74C7A61}"/>
              </a:ext>
            </a:extLst>
          </p:cNvPr>
          <p:cNvSpPr/>
          <p:nvPr/>
        </p:nvSpPr>
        <p:spPr>
          <a:xfrm>
            <a:off x="812800" y="3505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2BCCA0CA-C67A-6AF0-AD49-33CD6E96F04D}"/>
              </a:ext>
            </a:extLst>
          </p:cNvPr>
          <p:cNvSpPr txBox="1"/>
          <p:nvPr/>
        </p:nvSpPr>
        <p:spPr>
          <a:xfrm>
            <a:off x="1117600" y="3444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Sargable bound porovnává cutoff na raw indexovaném sloupci → index seekuje místo skenu.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9759C1A1-CB53-7296-B520-D5BBC1BF4E11}"/>
              </a:ext>
            </a:extLst>
          </p:cNvPr>
          <p:cNvSpPr/>
          <p:nvPr/>
        </p:nvSpPr>
        <p:spPr>
          <a:xfrm>
            <a:off x="812800" y="4267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53DA145F-720E-8BB1-E0E6-9C84B30ED805}"/>
              </a:ext>
            </a:extLst>
          </p:cNvPr>
          <p:cNvSpPr txBox="1"/>
          <p:nvPr/>
        </p:nvSpPr>
        <p:spPr>
          <a:xfrm>
            <a:off x="1117600" y="4206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Funguje jen tam, kde je raw sloupec sám indexovaný (datetime sloupec s podporou indexem).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F74C77B6-2AEC-65F7-3B39-F9E0F39C0AC2}"/>
              </a:ext>
            </a:extLst>
          </p:cNvPr>
          <p:cNvSpPr/>
          <p:nvPr/>
        </p:nvSpPr>
        <p:spPr>
          <a:xfrm>
            <a:off x="812800" y="5029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A292BBFF-E01C-C45F-341D-0A40DAA551F7}"/>
              </a:ext>
            </a:extLst>
          </p:cNvPr>
          <p:cNvSpPr txBox="1"/>
          <p:nvPr/>
        </p:nvSpPr>
        <p:spPr>
          <a:xfrm>
            <a:off x="1117600" y="4968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Po nastavení se ověří DryRunem: počet kandidátů musí sednout s neohraničeným počtem.</a:t>
            </a:r>
          </a:p>
        </p:txBody>
      </p:sp>
      <p:sp>
        <p:nvSpPr>
          <p:cNvPr id="19" name="Obdélník: se zakulacenými rohy 18">
            <a:extLst>
              <a:ext uri="{FF2B5EF4-FFF2-40B4-BE49-F238E27FC236}">
                <a16:creationId xmlns:a16="http://schemas.microsoft.com/office/drawing/2014/main" id="{9A69ADDB-CA6A-43B5-2075-4B31677CB707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7FDC4052-C40A-ED7D-777F-3BFAF7A026F1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F187AE5C-3D28-216E-ED7C-3957A6E80F44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Sargable cutoff plus malé dávky zvládnou miliony řádků rychle — ale jen na indexovaném zdrojovém sloupci.</a:t>
            </a:r>
          </a:p>
        </p:txBody>
      </p:sp>
    </p:spTree>
    <p:extLst>
      <p:ext uri="{BB962C8B-B14F-4D97-AF65-F5344CB8AC3E}">
        <p14:creationId xmlns:p14="http://schemas.microsoft.com/office/powerpoint/2010/main" val="469771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F8793FCC-123E-9236-007A-8CE411A7B2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54CBCB6C-7EB4-A596-393A-CF69EB87CB37}"/>
              </a:ext>
            </a:extLst>
          </p:cNvPr>
          <p:cNvSpPr txBox="1"/>
          <p:nvPr/>
        </p:nvSpPr>
        <p:spPr>
          <a:xfrm>
            <a:off x="812800" y="8128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600">
                <a:solidFill>
                  <a:srgbClr val="14202B"/>
                </a:solidFill>
                <a:latin typeface="Segoe UI Semibold" panose="020B0702040204020203" pitchFamily="34" charset="0"/>
              </a:rPr>
              <a:t>Jak probíhá jeden běh archivace</a:t>
            </a:r>
            <a:endParaRPr lang="cs-CZ" sz="2600">
              <a:solidFill>
                <a:srgbClr val="14202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DF75849D-F474-D9C2-B87C-D8718068C133}"/>
              </a:ext>
            </a:extLst>
          </p:cNvPr>
          <p:cNvSpPr/>
          <p:nvPr/>
        </p:nvSpPr>
        <p:spPr>
          <a:xfrm>
            <a:off x="812800" y="1422400"/>
            <a:ext cx="4826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: se zakulacenými rohy 4">
            <a:extLst>
              <a:ext uri="{FF2B5EF4-FFF2-40B4-BE49-F238E27FC236}">
                <a16:creationId xmlns:a16="http://schemas.microsoft.com/office/drawing/2014/main" id="{94329858-C33C-AB0C-494D-2897A021659A}"/>
              </a:ext>
            </a:extLst>
          </p:cNvPr>
          <p:cNvSpPr/>
          <p:nvPr/>
        </p:nvSpPr>
        <p:spPr>
          <a:xfrm>
            <a:off x="812800" y="2413000"/>
            <a:ext cx="2006600" cy="139700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5D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lang="cs-CZ" sz="1100" b="1">
                <a:solidFill>
                  <a:srgbClr val="14202B"/>
                </a:solidFill>
                <a:latin typeface="Segoe UI Semibold" panose="020B0702040204020203" pitchFamily="34" charset="0"/>
              </a:rPr>
              <a:t>Výběr kandidátů</a:t>
            </a:r>
          </a:p>
          <a:p>
            <a:pPr algn="ctr"/>
            <a:r>
              <a:rPr lang="cs-CZ" sz="1100" b="1">
                <a:solidFill>
                  <a:srgbClr val="14202B"/>
                </a:solidFill>
                <a:latin typeface="Segoe UI Semibold" panose="020B0702040204020203" pitchFamily="34" charset="0"/>
              </a:rPr>
              <a:t>(NOLOCK, dle cutoff / retence)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AE779EDA-37CB-8119-58A9-01B8BAC6B16E}"/>
              </a:ext>
            </a:extLst>
          </p:cNvPr>
          <p:cNvSpPr/>
          <p:nvPr/>
        </p:nvSpPr>
        <p:spPr>
          <a:xfrm>
            <a:off x="965200" y="2387600"/>
            <a:ext cx="330200" cy="3302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9C3BEF15-C1A1-CAD5-985B-194C4634C417}"/>
              </a:ext>
            </a:extLst>
          </p:cNvPr>
          <p:cNvSpPr txBox="1"/>
          <p:nvPr/>
        </p:nvSpPr>
        <p:spPr>
          <a:xfrm>
            <a:off x="965200" y="2433766"/>
            <a:ext cx="3302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cs-CZ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1</a:t>
            </a:r>
          </a:p>
        </p:txBody>
      </p:sp>
      <p:cxnSp>
        <p:nvCxnSpPr>
          <p:cNvPr id="8" name="Přímá spojnice se šipkou 7">
            <a:extLst>
              <a:ext uri="{FF2B5EF4-FFF2-40B4-BE49-F238E27FC236}">
                <a16:creationId xmlns:a16="http://schemas.microsoft.com/office/drawing/2014/main" id="{14D0969A-034B-CCA6-1ECF-751424FB3551}"/>
              </a:ext>
            </a:extLst>
          </p:cNvPr>
          <p:cNvCxnSpPr/>
          <p:nvPr/>
        </p:nvCxnSpPr>
        <p:spPr>
          <a:xfrm>
            <a:off x="2819400" y="3111500"/>
            <a:ext cx="254000" cy="0"/>
          </a:xfrm>
          <a:prstGeom prst="straightConnector1">
            <a:avLst/>
          </a:prstGeom>
          <a:ln w="25400">
            <a:solidFill>
              <a:srgbClr val="5B6B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bdélník: se zakulacenými rohy 8">
            <a:extLst>
              <a:ext uri="{FF2B5EF4-FFF2-40B4-BE49-F238E27FC236}">
                <a16:creationId xmlns:a16="http://schemas.microsoft.com/office/drawing/2014/main" id="{1209E9D8-696A-AF7E-E8AC-0F82875F72DC}"/>
              </a:ext>
            </a:extLst>
          </p:cNvPr>
          <p:cNvSpPr/>
          <p:nvPr/>
        </p:nvSpPr>
        <p:spPr>
          <a:xfrm>
            <a:off x="3073400" y="2413000"/>
            <a:ext cx="2006600" cy="139700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5D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lang="cs-CZ" sz="1100" b="1">
                <a:solidFill>
                  <a:srgbClr val="14202B"/>
                </a:solidFill>
                <a:latin typeface="Segoe UI Semibold" panose="020B0702040204020203" pitchFamily="34" charset="0"/>
              </a:rPr>
              <a:t>Rozdělení</a:t>
            </a:r>
          </a:p>
          <a:p>
            <a:pPr algn="ctr"/>
            <a:r>
              <a:rPr lang="cs-CZ" sz="1100" b="1">
                <a:solidFill>
                  <a:srgbClr val="14202B"/>
                </a:solidFill>
                <a:latin typeface="Segoe UI Semibold" panose="020B0702040204020203" pitchFamily="34" charset="0"/>
              </a:rPr>
              <a:t>na dávky</a:t>
            </a:r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279AB89F-67C7-8CC7-B64E-8C7F3C04B1DF}"/>
              </a:ext>
            </a:extLst>
          </p:cNvPr>
          <p:cNvSpPr/>
          <p:nvPr/>
        </p:nvSpPr>
        <p:spPr>
          <a:xfrm>
            <a:off x="3225800" y="2387600"/>
            <a:ext cx="330200" cy="3302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18749BA1-C3A7-EC69-8F7E-2A75EFC25368}"/>
              </a:ext>
            </a:extLst>
          </p:cNvPr>
          <p:cNvSpPr txBox="1"/>
          <p:nvPr/>
        </p:nvSpPr>
        <p:spPr>
          <a:xfrm>
            <a:off x="3225800" y="2433766"/>
            <a:ext cx="3302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cs-CZ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2</a:t>
            </a:r>
          </a:p>
        </p:txBody>
      </p:sp>
      <p:cxnSp>
        <p:nvCxnSpPr>
          <p:cNvPr id="12" name="Přímá spojnice se šipkou 11">
            <a:extLst>
              <a:ext uri="{FF2B5EF4-FFF2-40B4-BE49-F238E27FC236}">
                <a16:creationId xmlns:a16="http://schemas.microsoft.com/office/drawing/2014/main" id="{3C7A20BB-65C7-2BB3-1038-428C9053CBC3}"/>
              </a:ext>
            </a:extLst>
          </p:cNvPr>
          <p:cNvCxnSpPr/>
          <p:nvPr/>
        </p:nvCxnSpPr>
        <p:spPr>
          <a:xfrm>
            <a:off x="5080000" y="3111500"/>
            <a:ext cx="254000" cy="0"/>
          </a:xfrm>
          <a:prstGeom prst="straightConnector1">
            <a:avLst/>
          </a:prstGeom>
          <a:ln w="25400">
            <a:solidFill>
              <a:srgbClr val="5B6B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bdélník: se zakulacenými rohy 12">
            <a:extLst>
              <a:ext uri="{FF2B5EF4-FFF2-40B4-BE49-F238E27FC236}">
                <a16:creationId xmlns:a16="http://schemas.microsoft.com/office/drawing/2014/main" id="{3F9E05F6-4A14-BFC7-2330-DC848187B40C}"/>
              </a:ext>
            </a:extLst>
          </p:cNvPr>
          <p:cNvSpPr/>
          <p:nvPr/>
        </p:nvSpPr>
        <p:spPr>
          <a:xfrm>
            <a:off x="5334000" y="2413000"/>
            <a:ext cx="2006600" cy="1397000"/>
          </a:xfrm>
          <a:prstGeom prst="roundRect">
            <a:avLst/>
          </a:prstGeom>
          <a:solidFill>
            <a:srgbClr val="E0F0EC"/>
          </a:solidFill>
          <a:ln w="12700">
            <a:solidFill>
              <a:srgbClr val="D5D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lang="cs-CZ" sz="1100" b="1">
                <a:solidFill>
                  <a:srgbClr val="14202B"/>
                </a:solidFill>
                <a:latin typeface="Segoe UI Semibold" panose="020B0702040204020203" pitchFamily="34" charset="0"/>
              </a:rPr>
              <a:t>Zápis do</a:t>
            </a:r>
          </a:p>
          <a:p>
            <a:pPr algn="ctr"/>
            <a:r>
              <a:rPr lang="cs-CZ" sz="1100" b="1">
                <a:solidFill>
                  <a:srgbClr val="14202B"/>
                </a:solidFill>
                <a:latin typeface="Segoe UI Semibold" panose="020B0702040204020203" pitchFamily="34" charset="0"/>
              </a:rPr>
              <a:t>archivní DB</a:t>
            </a:r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18BD88C7-859B-9110-43B5-53F88B4A55A7}"/>
              </a:ext>
            </a:extLst>
          </p:cNvPr>
          <p:cNvSpPr/>
          <p:nvPr/>
        </p:nvSpPr>
        <p:spPr>
          <a:xfrm>
            <a:off x="5486400" y="2387600"/>
            <a:ext cx="330200" cy="3302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TextovéPole 14">
            <a:extLst>
              <a:ext uri="{FF2B5EF4-FFF2-40B4-BE49-F238E27FC236}">
                <a16:creationId xmlns:a16="http://schemas.microsoft.com/office/drawing/2014/main" id="{9AB07D6D-21B5-9666-FC31-670DD3266DBA}"/>
              </a:ext>
            </a:extLst>
          </p:cNvPr>
          <p:cNvSpPr txBox="1"/>
          <p:nvPr/>
        </p:nvSpPr>
        <p:spPr>
          <a:xfrm>
            <a:off x="5486400" y="2433766"/>
            <a:ext cx="3302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cs-CZ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3</a:t>
            </a:r>
          </a:p>
        </p:txBody>
      </p:sp>
      <p:cxnSp>
        <p:nvCxnSpPr>
          <p:cNvPr id="16" name="Přímá spojnice se šipkou 15">
            <a:extLst>
              <a:ext uri="{FF2B5EF4-FFF2-40B4-BE49-F238E27FC236}">
                <a16:creationId xmlns:a16="http://schemas.microsoft.com/office/drawing/2014/main" id="{94E735A4-ADF8-156F-E915-C4C23C5F32FE}"/>
              </a:ext>
            </a:extLst>
          </p:cNvPr>
          <p:cNvCxnSpPr/>
          <p:nvPr/>
        </p:nvCxnSpPr>
        <p:spPr>
          <a:xfrm>
            <a:off x="7340600" y="3111500"/>
            <a:ext cx="254000" cy="0"/>
          </a:xfrm>
          <a:prstGeom prst="straightConnector1">
            <a:avLst/>
          </a:prstGeom>
          <a:ln w="25400">
            <a:solidFill>
              <a:srgbClr val="5B6B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bdélník: se zakulacenými rohy 16">
            <a:extLst>
              <a:ext uri="{FF2B5EF4-FFF2-40B4-BE49-F238E27FC236}">
                <a16:creationId xmlns:a16="http://schemas.microsoft.com/office/drawing/2014/main" id="{F7FACB95-E46A-2452-0D0F-55FA0E17530A}"/>
              </a:ext>
            </a:extLst>
          </p:cNvPr>
          <p:cNvSpPr/>
          <p:nvPr/>
        </p:nvSpPr>
        <p:spPr>
          <a:xfrm>
            <a:off x="7594600" y="2413000"/>
            <a:ext cx="2006600" cy="139700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5D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lang="cs-CZ" sz="1100" b="1">
                <a:solidFill>
                  <a:srgbClr val="14202B"/>
                </a:solidFill>
                <a:latin typeface="Segoe UI Semibold" panose="020B0702040204020203" pitchFamily="34" charset="0"/>
              </a:rPr>
              <a:t>Smazání</a:t>
            </a:r>
          </a:p>
          <a:p>
            <a:pPr algn="ctr"/>
            <a:r>
              <a:rPr lang="cs-CZ" sz="1100" b="1">
                <a:solidFill>
                  <a:srgbClr val="14202B"/>
                </a:solidFill>
                <a:latin typeface="Segoe UI Semibold" panose="020B0702040204020203" pitchFamily="34" charset="0"/>
              </a:rPr>
              <a:t>ze zdroje</a:t>
            </a:r>
          </a:p>
        </p:txBody>
      </p:sp>
      <p:sp>
        <p:nvSpPr>
          <p:cNvPr id="18" name="Obdélník 17">
            <a:extLst>
              <a:ext uri="{FF2B5EF4-FFF2-40B4-BE49-F238E27FC236}">
                <a16:creationId xmlns:a16="http://schemas.microsoft.com/office/drawing/2014/main" id="{6B7E68B0-13D5-BF6E-AD10-A55993BB8A61}"/>
              </a:ext>
            </a:extLst>
          </p:cNvPr>
          <p:cNvSpPr/>
          <p:nvPr/>
        </p:nvSpPr>
        <p:spPr>
          <a:xfrm>
            <a:off x="7747000" y="2387600"/>
            <a:ext cx="330200" cy="3302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D4C5D183-1DF2-B8AE-48A5-0707E13C1BC4}"/>
              </a:ext>
            </a:extLst>
          </p:cNvPr>
          <p:cNvSpPr txBox="1"/>
          <p:nvPr/>
        </p:nvSpPr>
        <p:spPr>
          <a:xfrm>
            <a:off x="7747000" y="2433766"/>
            <a:ext cx="3302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cs-CZ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4</a:t>
            </a:r>
          </a:p>
        </p:txBody>
      </p:sp>
      <p:cxnSp>
        <p:nvCxnSpPr>
          <p:cNvPr id="20" name="Přímá spojnice se šipkou 19">
            <a:extLst>
              <a:ext uri="{FF2B5EF4-FFF2-40B4-BE49-F238E27FC236}">
                <a16:creationId xmlns:a16="http://schemas.microsoft.com/office/drawing/2014/main" id="{3F2EE79D-62DC-10B5-7F37-B84D5B231E8C}"/>
              </a:ext>
            </a:extLst>
          </p:cNvPr>
          <p:cNvCxnSpPr/>
          <p:nvPr/>
        </p:nvCxnSpPr>
        <p:spPr>
          <a:xfrm>
            <a:off x="9601200" y="3111500"/>
            <a:ext cx="254000" cy="0"/>
          </a:xfrm>
          <a:prstGeom prst="straightConnector1">
            <a:avLst/>
          </a:prstGeom>
          <a:ln w="25400">
            <a:solidFill>
              <a:srgbClr val="5B6B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47EE3001-5276-730D-4D34-C3E70205973C}"/>
              </a:ext>
            </a:extLst>
          </p:cNvPr>
          <p:cNvSpPr/>
          <p:nvPr/>
        </p:nvSpPr>
        <p:spPr>
          <a:xfrm>
            <a:off x="9855200" y="2413000"/>
            <a:ext cx="2006600" cy="1397000"/>
          </a:xfrm>
          <a:prstGeom prst="roundRect">
            <a:avLst/>
          </a:prstGeom>
          <a:solidFill>
            <a:srgbClr val="E0F0EC"/>
          </a:solidFill>
          <a:ln w="12700">
            <a:solidFill>
              <a:srgbClr val="D5D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lang="cs-CZ" sz="1100" b="1">
                <a:solidFill>
                  <a:srgbClr val="14202B"/>
                </a:solidFill>
                <a:latin typeface="Segoe UI Semibold" panose="020B0702040204020203" pitchFamily="34" charset="0"/>
              </a:rPr>
              <a:t>Audit + kontrola</a:t>
            </a:r>
          </a:p>
          <a:p>
            <a:pPr algn="ctr"/>
            <a:r>
              <a:rPr lang="cs-CZ" sz="1100" b="1">
                <a:solidFill>
                  <a:srgbClr val="14202B"/>
                </a:solidFill>
                <a:latin typeface="Segoe UI Semibold" panose="020B0702040204020203" pitchFamily="34" charset="0"/>
              </a:rPr>
              <a:t>(Divergence = 0)</a:t>
            </a:r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C6B4AF6A-B76A-EC1F-7CF6-075FAB4A7B8A}"/>
              </a:ext>
            </a:extLst>
          </p:cNvPr>
          <p:cNvSpPr/>
          <p:nvPr/>
        </p:nvSpPr>
        <p:spPr>
          <a:xfrm>
            <a:off x="10007600" y="2387600"/>
            <a:ext cx="330200" cy="3302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16F821A3-BF91-1C45-6DC4-D63B55B14416}"/>
              </a:ext>
            </a:extLst>
          </p:cNvPr>
          <p:cNvSpPr txBox="1"/>
          <p:nvPr/>
        </p:nvSpPr>
        <p:spPr>
          <a:xfrm>
            <a:off x="10007600" y="2433766"/>
            <a:ext cx="3302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cs-CZ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5</a:t>
            </a:r>
          </a:p>
        </p:txBody>
      </p:sp>
      <p:sp>
        <p:nvSpPr>
          <p:cNvPr id="24" name="Obdélník: se zakulacenými rohy 23">
            <a:extLst>
              <a:ext uri="{FF2B5EF4-FFF2-40B4-BE49-F238E27FC236}">
                <a16:creationId xmlns:a16="http://schemas.microsoft.com/office/drawing/2014/main" id="{0E799D87-6B6D-8D6A-BC05-9B7B91FC79F1}"/>
              </a:ext>
            </a:extLst>
          </p:cNvPr>
          <p:cNvSpPr/>
          <p:nvPr/>
        </p:nvSpPr>
        <p:spPr>
          <a:xfrm>
            <a:off x="812800" y="4191000"/>
            <a:ext cx="4826000" cy="558800"/>
          </a:xfrm>
          <a:prstGeom prst="roundRect">
            <a:avLst/>
          </a:prstGeom>
          <a:solidFill>
            <a:srgbClr val="E0F0EC"/>
          </a:solidFill>
          <a:ln w="12700">
            <a:solidFill>
              <a:srgbClr val="0F7A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5" name="TextovéPole 24">
            <a:extLst>
              <a:ext uri="{FF2B5EF4-FFF2-40B4-BE49-F238E27FC236}">
                <a16:creationId xmlns:a16="http://schemas.microsoft.com/office/drawing/2014/main" id="{D7FD1C2F-4833-6E47-5F3E-E3429C083025}"/>
              </a:ext>
            </a:extLst>
          </p:cNvPr>
          <p:cNvSpPr txBox="1"/>
          <p:nvPr/>
        </p:nvSpPr>
        <p:spPr>
          <a:xfrm>
            <a:off x="990600" y="4338766"/>
            <a:ext cx="4572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200" b="1">
                <a:solidFill>
                  <a:srgbClr val="0B5C4B"/>
                </a:solidFill>
                <a:latin typeface="Segoe UI Semibold" panose="020B0702040204020203" pitchFamily="34" charset="0"/>
              </a:rPr>
              <a:t>PREP = krok 1 (příprava kandidátů předem)</a:t>
            </a:r>
          </a:p>
        </p:txBody>
      </p:sp>
      <p:sp>
        <p:nvSpPr>
          <p:cNvPr id="26" name="Obdélník: se zakulacenými rohy 25">
            <a:extLst>
              <a:ext uri="{FF2B5EF4-FFF2-40B4-BE49-F238E27FC236}">
                <a16:creationId xmlns:a16="http://schemas.microsoft.com/office/drawing/2014/main" id="{9A441505-C534-8EE4-5536-48A304A967C2}"/>
              </a:ext>
            </a:extLst>
          </p:cNvPr>
          <p:cNvSpPr/>
          <p:nvPr/>
        </p:nvSpPr>
        <p:spPr>
          <a:xfrm>
            <a:off x="6070600" y="4191000"/>
            <a:ext cx="5308600" cy="55880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E8A3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7" name="TextovéPole 26">
            <a:extLst>
              <a:ext uri="{FF2B5EF4-FFF2-40B4-BE49-F238E27FC236}">
                <a16:creationId xmlns:a16="http://schemas.microsoft.com/office/drawing/2014/main" id="{CAEEED78-901A-3C37-BB6D-E9D6EC0BECE8}"/>
              </a:ext>
            </a:extLst>
          </p:cNvPr>
          <p:cNvSpPr txBox="1"/>
          <p:nvPr/>
        </p:nvSpPr>
        <p:spPr>
          <a:xfrm>
            <a:off x="6248400" y="4338767"/>
            <a:ext cx="50546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200" b="1">
                <a:solidFill>
                  <a:srgbClr val="14202B"/>
                </a:solidFill>
                <a:latin typeface="Segoe UI Semibold" panose="020B0702040204020203" pitchFamily="34" charset="0"/>
              </a:rPr>
              <a:t>RUN = kroky 2–5  ·  Mode 2 (copy-only) vynechá krok 4 (mazání)</a:t>
            </a:r>
          </a:p>
        </p:txBody>
      </p:sp>
      <p:sp>
        <p:nvSpPr>
          <p:cNvPr id="28" name="TextovéPole 27">
            <a:extLst>
              <a:ext uri="{FF2B5EF4-FFF2-40B4-BE49-F238E27FC236}">
                <a16:creationId xmlns:a16="http://schemas.microsoft.com/office/drawing/2014/main" id="{F46F25CD-D86B-B041-F1A2-2A4BDAE248D1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29" name="TextovéPole 28">
            <a:extLst>
              <a:ext uri="{FF2B5EF4-FFF2-40B4-BE49-F238E27FC236}">
                <a16:creationId xmlns:a16="http://schemas.microsoft.com/office/drawing/2014/main" id="{64F641BC-E371-7000-A3D3-9A89E0FB014C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endParaRPr lang="cs-CZ" sz="900">
              <a:solidFill>
                <a:srgbClr val="5B6B78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Obdélník 29">
            <a:extLst>
              <a:ext uri="{FF2B5EF4-FFF2-40B4-BE49-F238E27FC236}">
                <a16:creationId xmlns:a16="http://schemas.microsoft.com/office/drawing/2014/main" id="{ED8BF717-A05C-817A-EBE1-3AE60769E0BA}"/>
              </a:ext>
            </a:extLst>
          </p:cNvPr>
          <p:cNvSpPr/>
          <p:nvPr/>
        </p:nvSpPr>
        <p:spPr>
          <a:xfrm>
            <a:off x="0" y="0"/>
            <a:ext cx="76200" cy="139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0838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F213204F-85A2-FF26-859E-076CBECE64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2D2A081E-D50D-0311-53B1-9FB89D6F0EBB}"/>
              </a:ext>
            </a:extLst>
          </p:cNvPr>
          <p:cNvSpPr txBox="1"/>
          <p:nvPr/>
        </p:nvSpPr>
        <p:spPr>
          <a:xfrm>
            <a:off x="812800" y="8128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600">
                <a:solidFill>
                  <a:srgbClr val="14202B"/>
                </a:solidFill>
                <a:latin typeface="Segoe UI Semibold" panose="020B0702040204020203" pitchFamily="34" charset="0"/>
              </a:rPr>
              <a:t>Dva režimy: Mode 1 vs Mode 2</a:t>
            </a:r>
            <a:endParaRPr lang="cs-CZ" sz="2600">
              <a:solidFill>
                <a:srgbClr val="14202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6CCFC7F2-2C52-AD40-7D03-93DCAE872E5D}"/>
              </a:ext>
            </a:extLst>
          </p:cNvPr>
          <p:cNvSpPr/>
          <p:nvPr/>
        </p:nvSpPr>
        <p:spPr>
          <a:xfrm>
            <a:off x="812800" y="1422400"/>
            <a:ext cx="4826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: se zakulacenými rohy 4">
            <a:extLst>
              <a:ext uri="{FF2B5EF4-FFF2-40B4-BE49-F238E27FC236}">
                <a16:creationId xmlns:a16="http://schemas.microsoft.com/office/drawing/2014/main" id="{DBE172D0-A5A6-228C-6E41-986E8C6837F8}"/>
              </a:ext>
            </a:extLst>
          </p:cNvPr>
          <p:cNvSpPr/>
          <p:nvPr/>
        </p:nvSpPr>
        <p:spPr>
          <a:xfrm>
            <a:off x="812800" y="1905000"/>
            <a:ext cx="5080000" cy="3810000"/>
          </a:xfrm>
          <a:prstGeom prst="roundRect">
            <a:avLst/>
          </a:prstGeom>
          <a:solidFill>
            <a:srgbClr val="E0F0EC"/>
          </a:solidFill>
          <a:ln w="12700">
            <a:solidFill>
              <a:srgbClr val="0F7A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186EB8A1-941F-83CB-F740-E8C4D50CABDE}"/>
              </a:ext>
            </a:extLst>
          </p:cNvPr>
          <p:cNvSpPr txBox="1"/>
          <p:nvPr/>
        </p:nvSpPr>
        <p:spPr>
          <a:xfrm>
            <a:off x="1117600" y="2184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b="1">
                <a:solidFill>
                  <a:srgbClr val="0B5C4B"/>
                </a:solidFill>
                <a:latin typeface="Segoe UI Semibold" panose="020B0702040204020203" pitchFamily="34" charset="0"/>
              </a:rPr>
              <a:t>Mode 1 — Archivace + mazání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131A96E8-E8E5-953E-C0D4-88B6C498DE71}"/>
              </a:ext>
            </a:extLst>
          </p:cNvPr>
          <p:cNvSpPr txBox="1"/>
          <p:nvPr/>
        </p:nvSpPr>
        <p:spPr>
          <a:xfrm>
            <a:off x="1117600" y="2667000"/>
            <a:ext cx="4572000" cy="16004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300">
                <a:solidFill>
                  <a:srgbClr val="14202B"/>
                </a:solidFill>
                <a:latin typeface="Segoe UI" panose="020B0502040204020203" pitchFamily="34" charset="0"/>
              </a:rPr>
              <a:t>▪  Data se zapíší do archivu a poté SMAŽOU ze zdroje.</a:t>
            </a:r>
          </a:p>
          <a:p>
            <a:endParaRPr lang="cs-CZ" sz="1300">
              <a:solidFill>
                <a:srgbClr val="14202B"/>
              </a:solidFill>
              <a:latin typeface="Segoe UI" panose="020B0502040204020203" pitchFamily="34" charset="0"/>
            </a:endParaRPr>
          </a:p>
          <a:p>
            <a:r>
              <a:rPr lang="cs-CZ" sz="1300">
                <a:solidFill>
                  <a:srgbClr val="14202B"/>
                </a:solidFill>
                <a:latin typeface="Segoe UI" panose="020B0502040204020203" pitchFamily="34" charset="0"/>
              </a:rPr>
              <a:t>▪  Zdrojová DB se zmenší — uvolní se místo a zrychlí provoz.</a:t>
            </a:r>
          </a:p>
          <a:p>
            <a:endParaRPr lang="cs-CZ" sz="1300">
              <a:solidFill>
                <a:srgbClr val="14202B"/>
              </a:solidFill>
              <a:latin typeface="Segoe UI" panose="020B0502040204020203" pitchFamily="34" charset="0"/>
            </a:endParaRPr>
          </a:p>
          <a:p>
            <a:r>
              <a:rPr lang="cs-CZ" sz="1300">
                <a:solidFill>
                  <a:srgbClr val="14202B"/>
                </a:solidFill>
                <a:latin typeface="Segoe UI" panose="020B0502040204020203" pitchFamily="34" charset="0"/>
              </a:rPr>
              <a:t>▪  Výchozí provozní režim archivace.</a:t>
            </a:r>
          </a:p>
          <a:p>
            <a:endParaRPr lang="cs-CZ" sz="1300">
              <a:solidFill>
                <a:srgbClr val="14202B"/>
              </a:solidFill>
              <a:latin typeface="Segoe UI" panose="020B0502040204020203" pitchFamily="34" charset="0"/>
            </a:endParaRPr>
          </a:p>
          <a:p>
            <a:r>
              <a:rPr lang="cs-CZ" sz="1300">
                <a:solidFill>
                  <a:srgbClr val="14202B"/>
                </a:solidFill>
                <a:latin typeface="Segoe UI" panose="020B0502040204020203" pitchFamily="34" charset="0"/>
              </a:rPr>
              <a:t>▪  Archiv je jediná kopie → chráněn zálohami (backup-of-record).</a:t>
            </a:r>
          </a:p>
        </p:txBody>
      </p:sp>
      <p:sp>
        <p:nvSpPr>
          <p:cNvPr id="8" name="Obdélník: se zakulacenými rohy 7">
            <a:extLst>
              <a:ext uri="{FF2B5EF4-FFF2-40B4-BE49-F238E27FC236}">
                <a16:creationId xmlns:a16="http://schemas.microsoft.com/office/drawing/2014/main" id="{8FAA99E8-B8EF-39A0-0FEE-6822FCA4A867}"/>
              </a:ext>
            </a:extLst>
          </p:cNvPr>
          <p:cNvSpPr/>
          <p:nvPr/>
        </p:nvSpPr>
        <p:spPr>
          <a:xfrm>
            <a:off x="6299200" y="1905000"/>
            <a:ext cx="5080000" cy="381000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E8A3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AC2961A9-6C72-4412-856D-BF696CBB248A}"/>
              </a:ext>
            </a:extLst>
          </p:cNvPr>
          <p:cNvSpPr txBox="1"/>
          <p:nvPr/>
        </p:nvSpPr>
        <p:spPr>
          <a:xfrm>
            <a:off x="6604000" y="2184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b="1">
                <a:solidFill>
                  <a:srgbClr val="14202B"/>
                </a:solidFill>
                <a:latin typeface="Segoe UI Semibold" panose="020B0702040204020203" pitchFamily="34" charset="0"/>
              </a:rPr>
              <a:t>Mode 2 — Copy-only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5DF0E74A-BFCD-EDEE-1D1B-9CE62DF8E2A0}"/>
              </a:ext>
            </a:extLst>
          </p:cNvPr>
          <p:cNvSpPr txBox="1"/>
          <p:nvPr/>
        </p:nvSpPr>
        <p:spPr>
          <a:xfrm>
            <a:off x="6604000" y="2667000"/>
            <a:ext cx="4572000" cy="14003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300">
                <a:solidFill>
                  <a:srgbClr val="14202B"/>
                </a:solidFill>
                <a:latin typeface="Segoe UI" panose="020B0502040204020203" pitchFamily="34" charset="0"/>
              </a:rPr>
              <a:t>▪  Data se jen ZKOPÍRUJÍ do archivu, zdroj zůstává beze změny.</a:t>
            </a:r>
          </a:p>
          <a:p>
            <a:endParaRPr lang="cs-CZ" sz="1300">
              <a:solidFill>
                <a:srgbClr val="14202B"/>
              </a:solidFill>
              <a:latin typeface="Segoe UI" panose="020B0502040204020203" pitchFamily="34" charset="0"/>
            </a:endParaRPr>
          </a:p>
          <a:p>
            <a:r>
              <a:rPr lang="cs-CZ" sz="1300">
                <a:solidFill>
                  <a:srgbClr val="14202B"/>
                </a:solidFill>
                <a:latin typeface="Segoe UI" panose="020B0502040204020203" pitchFamily="34" charset="0"/>
              </a:rPr>
              <a:t>▪  Nic se nemaže — bezpečné ověření a příprava.</a:t>
            </a:r>
          </a:p>
          <a:p>
            <a:endParaRPr lang="cs-CZ" sz="1300">
              <a:solidFill>
                <a:srgbClr val="14202B"/>
              </a:solidFill>
              <a:latin typeface="Segoe UI" panose="020B0502040204020203" pitchFamily="34" charset="0"/>
            </a:endParaRPr>
          </a:p>
          <a:p>
            <a:r>
              <a:rPr lang="cs-CZ" sz="1300">
                <a:solidFill>
                  <a:srgbClr val="14202B"/>
                </a:solidFill>
                <a:latin typeface="Segoe UI" panose="020B0502040204020203" pitchFamily="34" charset="0"/>
              </a:rPr>
              <a:t>▪  Idempotentní: opakování nevytvoří duplicity.</a:t>
            </a:r>
          </a:p>
          <a:p>
            <a:endParaRPr lang="cs-CZ" sz="1300">
              <a:solidFill>
                <a:srgbClr val="14202B"/>
              </a:solidFill>
              <a:latin typeface="Segoe UI" panose="020B0502040204020203" pitchFamily="34" charset="0"/>
            </a:endParaRPr>
          </a:p>
          <a:p>
            <a:r>
              <a:rPr lang="cs-CZ" sz="1300">
                <a:solidFill>
                  <a:srgbClr val="14202B"/>
                </a:solidFill>
                <a:latin typeface="Segoe UI" panose="020B0502040204020203" pitchFamily="34" charset="0"/>
              </a:rPr>
              <a:t>▪  Ideální pro první test mapování u zákazníka.</a:t>
            </a: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0BD56FBB-B818-3FF1-723F-9DF5043BE27F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C97F8B7A-C27B-B8F9-F91A-C5BFC7F88FF5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endParaRPr lang="cs-CZ" sz="900">
              <a:solidFill>
                <a:srgbClr val="5B6B78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BF22BB84-F9A7-25DF-F123-43CDB269DE6F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81643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F5A8C0CA-AC5D-CD55-65EF-F87E6BBE78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A4E37CFF-A1A8-5C57-64F7-55028E044E68}"/>
              </a:ext>
            </a:extLst>
          </p:cNvPr>
          <p:cNvSpPr txBox="1"/>
          <p:nvPr/>
        </p:nvSpPr>
        <p:spPr>
          <a:xfrm>
            <a:off x="812800" y="2159000"/>
            <a:ext cx="2540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7200">
                <a:solidFill>
                  <a:srgbClr val="0F7A63"/>
                </a:solidFill>
                <a:latin typeface="Segoe UI Light" panose="020B0502040204020203" pitchFamily="34" charset="0"/>
              </a:rPr>
              <a:t>03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1C46BA16-08DE-B0CE-A193-B8A7FD0F9FF8}"/>
              </a:ext>
            </a:extLst>
          </p:cNvPr>
          <p:cNvSpPr/>
          <p:nvPr/>
        </p:nvSpPr>
        <p:spPr>
          <a:xfrm>
            <a:off x="889000" y="3429000"/>
            <a:ext cx="1143000" cy="50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5D6C969A-718B-882A-E829-FDFCDCD49B8C}"/>
              </a:ext>
            </a:extLst>
          </p:cNvPr>
          <p:cNvSpPr txBox="1"/>
          <p:nvPr/>
        </p:nvSpPr>
        <p:spPr>
          <a:xfrm>
            <a:off x="812800" y="3683000"/>
            <a:ext cx="10566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3400">
                <a:solidFill>
                  <a:srgbClr val="FFFFFF"/>
                </a:solidFill>
                <a:latin typeface="Segoe UI Semibold" panose="020B0702040204020203" pitchFamily="34" charset="0"/>
              </a:rPr>
              <a:t>Bezpečnostní principy kArchiveManager 2.0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9BF2086C-ACC5-A6BD-685A-C856F599D59B}"/>
              </a:ext>
            </a:extLst>
          </p:cNvPr>
          <p:cNvSpPr txBox="1"/>
          <p:nvPr/>
        </p:nvSpPr>
        <p:spPr>
          <a:xfrm>
            <a:off x="812800" y="6350000"/>
            <a:ext cx="508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0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</p:spTree>
    <p:extLst>
      <p:ext uri="{BB962C8B-B14F-4D97-AF65-F5344CB8AC3E}">
        <p14:creationId xmlns:p14="http://schemas.microsoft.com/office/powerpoint/2010/main" val="1860127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FBB179B4-08B5-694B-2B68-B8690E33C8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CC012A9C-C8F7-B3F9-23DF-8EC02AED991B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05B94A8D-EB7A-1CC7-0C0B-A7A751E0BE2D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21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A080AFFC-BCE6-6124-B6E4-C628D9861F67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7C2A8E93-7A28-D349-CB11-9A45FB180CE3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BEZPEČNOSTNÍ PRINCIPY KARCHIVEMANAGER 2.0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55606B4E-FC20-C93E-D525-2A8E30C103BC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Nejdřív archiv, teprve potom výmaz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E92F3076-1A51-2D4E-0872-B522C055935C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D5DE905C-DFB5-7081-3539-7A50B1284134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441F2537-00C9-8186-1FE9-E2EDC05A1EBD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Žádný řádek se ze zdroje nesmaže dřív, než je bezpečně uložen v archivu.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8AD6126E-9636-4362-87E3-443764919283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D0862C74-0A05-5265-CFE8-357F2DFA96CF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Archiv je oficiální záznam přesunutých dat — jediná autoritativní kopie.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2C051EC6-5C5B-85D7-E6F4-3099418F8158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DA3DD5E9-AAF7-981A-9EA5-53611CA95FD5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Po každém běhu konzole ukazuje počty: archivováno = smazáno (Divergence = 0).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7E43A8A7-89E7-1F9C-0854-7CA9E133B7C0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EDB47F4F-0074-3746-6295-B670572C7438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Vrácení dat zpět do zdroje řeší restore přes arch.usp_RestoreFromArchive (T-27).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CD21EE3E-06E0-F295-6A0D-06AD468B96B0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58A53F8D-0656-B217-51AA-68AFE12B5C83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Restore smí spustit jen role karch_approver nebo DBA, ne běhový účet.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3567B88A-98AC-C0CC-8084-DCFB098F5D5C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36600E21-2454-6A89-EC37-EE4C8288CDE5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Pro vás: zákazník o data nepřijde, jen se přesunou na bezpečnější místo.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55E0CFA3-F425-3B4E-DC65-8E27708EF97B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1ED00AFB-F558-EBD2-FF16-B04CBA0AE654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9A2F5245-5E27-F7A0-C81C-421D8962F508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Smazání je vždy až důsledek úspěšné archivace — nikdy se nemaže bez uloženého archivu.</a:t>
            </a:r>
          </a:p>
        </p:txBody>
      </p:sp>
    </p:spTree>
    <p:extLst>
      <p:ext uri="{BB962C8B-B14F-4D97-AF65-F5344CB8AC3E}">
        <p14:creationId xmlns:p14="http://schemas.microsoft.com/office/powerpoint/2010/main" val="74904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6E72E1BE-9D57-0A2A-2651-72581B367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8EF58DD1-71A3-ACCE-2D35-7092301FFAC7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D6AA92AE-1BF2-800E-7FD9-074C951534FB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22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073ECA93-45D1-09EA-23DF-D7514CE6AF6E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B0E988E3-C70F-E59A-25E4-8A6F247C2875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BEZPEČNOSTNÍ PRINCIPY KARCHIVEMANAGER 2.0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E1FA58E4-59E8-9CB3-D6A7-FF42D133C75D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Výběr dat nezamyká produkci a nesahá na zdroj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795FDB07-BC79-9BFF-4F2E-32F4BD6FE5CA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A62D9F1D-9383-F7AA-F941-2960026459D7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F58682D3-5765-DCE6-1870-AA51A609AD66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Výběr kandidátů čte data režimem NOLOCK — nebere žádné datové zámky.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97FD6D10-6888-5B5E-78C5-23D2E1EC867E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C475A9B5-BCCE-0647-A4B3-3663079F87BE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Lock-probe to dokázala: výběr drží jen Sch-S zámek, nikdy neblokuje provozní zápisy.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477292D8-505C-0DD3-BFC7-559445E1E273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0525D893-3212-C44D-3F27-C6BF0103B533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Bezpečné je to proto, že kandidáti jsou starší než cutoff a už se nemění.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6C37A1EA-A0B9-91C3-0618-3C4E6AE54019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BA5E40A6-A838-CFA9-189D-C9CE0596F134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Ve zdrojové databázi se NIKDY nezakládají indexy ani jiné schema změny.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43BD4DB3-3C8A-2254-2DF6-A6A217051704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66EEB7DE-A5F5-ADCB-8E3F-67D6DDD3EADF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Mazání bere zámky jen v RUN okně, po malých dávkách pod hranicí eskalace.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A8B00063-B9B2-B238-B7BE-010409BBF0D3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027235D2-F3A8-271D-88D8-535C86935607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Pro vás: archivace běží na pozadí a neshodí ani nezpomalí zákazníkův WMS.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EAA018AA-B35A-C4ED-BFC2-B9AD43991D2B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0B678D68-4289-CEAA-68C8-DE0E08AB5655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372155A9-392B-2F7E-232E-EF721D6778A6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Archivace je vůči produkci téměř neviditelná — žádné datové zámky při výběru, žádné zásahy do schématu zdroje.</a:t>
            </a:r>
          </a:p>
        </p:txBody>
      </p:sp>
    </p:spTree>
    <p:extLst>
      <p:ext uri="{BB962C8B-B14F-4D97-AF65-F5344CB8AC3E}">
        <p14:creationId xmlns:p14="http://schemas.microsoft.com/office/powerpoint/2010/main" val="29327851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37D20681-7883-BD46-086B-10F55267D5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7ACA211D-2C74-41A3-1DEA-3B73D0AFCF2C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57DE2D27-A46C-F5B8-449F-AF01C0C0532B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23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ED82B58-9184-7800-F02F-655D00A326E6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7BE5FBA4-4D5D-102B-030E-29259B6EB0C4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BEZPEČNOSTNÍ PRINCIPY KARCHIVEMANAGER 2.0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03D0B5B7-0003-90C6-FF54-451A735AFF85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Least-privilege role — každý smí jen své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74BF40A7-0468-D8A4-BE9C-7EF3F375460D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A5FF7BB1-035B-4AAD-ECA1-4A0295722FC9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B4D75E17-37CA-ACD8-452D-B7EA411E5990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Běhový účet je v roli karch_runtime a ve zdroji smí jen SELECT a DELETE mapovaných tabulek.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5BE9C971-5CF3-C732-0949-729F8BAC8F7F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ACC6706D-76E5-A9A0-0BED-09D04A08C043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V archivu má jen INSERT, SELECT, ALTER a CREATE TABLE — ŽÁDNÝ DELETE ani UPDATE.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401BFDEE-C495-B7AF-0E2A-F850E8A055A1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0978741E-E6C9-B61E-9CE8-FD9E10F1D6F1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Runner tedy nikdy nemůže smazat ani přepsat data v archivu.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844064B0-F17B-ED8B-BC5A-B128CCE28873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E13F323C-9302-ABF3-E4DE-5A812136B88F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Mazání z archivu (purge) i restore je výhradně akce role karch_approver nebo DBA.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DD6E6315-EAD0-AFD0-0546-796E2846D94A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D6294874-6FA6-3EF1-FC66-E38C868719BA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Runner není sysadmin ani db_owner — nemá žádná zbytečná práva navíc.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D87F5F56-D931-C2C0-5BFE-6554EBCD4BD7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74C9B0F2-ECF6-EFEF-E2F7-85B963541272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Pro vás: i kdyby běh selhal, runner nemá oprávnění napáchat škodu v archivu.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CEDD5B5C-C589-09FF-DBB9-66D644B3D67F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3067272A-3D3E-727D-F715-FDE583A176C5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95E1143D-06A6-23F4-6DC3-9D0E1B3B12F7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Každá identita má jen minimum práv pro svou roli — runner archivuje, ale archiv nikdy nemaže ani nepřepíše.</a:t>
            </a:r>
          </a:p>
        </p:txBody>
      </p:sp>
    </p:spTree>
    <p:extLst>
      <p:ext uri="{BB962C8B-B14F-4D97-AF65-F5344CB8AC3E}">
        <p14:creationId xmlns:p14="http://schemas.microsoft.com/office/powerpoint/2010/main" val="2796703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A26162D3-A486-75D9-CEA7-3E65C1708F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A4880F09-D2DC-B03F-D561-E7EF5B60FCF2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59912CC2-5D25-0200-231D-DB199236326B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24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2BC0069E-4E15-7A4C-1C72-948852612CBC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4B942CD2-E1D7-8634-E44D-DEB31A7A3E87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BEZPEČNOSTNÍ PRINCIPY KARCHIVEMANAGER 2.0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E0A37F51-9155-EB00-B62B-FA8BF243DFD5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b-NO" sz="2600">
                <a:solidFill>
                  <a:srgbClr val="14202B"/>
                </a:solidFill>
                <a:latin typeface="Segoe UI Semibold" panose="020B0702040204020203" pitchFamily="34" charset="0"/>
              </a:rPr>
              <a:t>Runner privilege gate — kontrola před každým mazáním</a:t>
            </a:r>
            <a:endParaRPr lang="cs-CZ" sz="2600">
              <a:solidFill>
                <a:srgbClr val="14202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772DB690-6103-6625-EEF2-A848B5F501A6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87622001-7674-47DA-362D-12F88B033A3C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33888AEF-9974-C159-5901-80F5B6A65F23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Před reálným během spustí krok VALIDATE proceduru arch.usp_VerifyRunnerPrivileges.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D97E3A36-C8D1-8526-E1C4-0C49CF345078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635A245A-8AB8-0E90-D913-21D05DB94D53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Gate ověří, že běhový účet NENÍ sysadmin ani db_owner.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1BCDC260-51FA-A864-6C3C-F7258AAA4526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863C7E94-C9BF-4CBE-58B0-3DB2211BB188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Zkontroluje, že drží přesně povolené granty — nic víc, nic míň.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D1B6044F-1A25-E6C5-3B17-1F79A12574D8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AE42691E-0883-2FA3-090A-D14AA550A0CD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Při chybě vyhodí výjimku (THROW) a běh se zastaví ještě před jakýmkoli výmazem.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024BB7EC-5D23-3638-4221-3C8041906EC5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31B5CFEE-514D-57AA-BC92-89D6BCDEF8C9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Snímek povolených práv je uložen v arch.RunnerPrivilegeInventory z doby nasazení.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10D0E91C-97DB-FA5A-D076-34B1B7DC01A6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B7EFD419-B2FD-836F-6D8A-14271576FDE4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Pro vás: když VALIDATE krok selže, naplánovaná archivace neproběhla — eskalujte na L2/DBA.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A4609677-6D66-AC42-657F-3DF5AA9A2124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988252DA-257E-DFA6-6ACA-B8E32C7339C8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E83B0B79-88E8-A69F-E41C-6EB153CA844C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Žádný běh s nadbytečnými právy neproběhne — privilege gate zablokuje výmaz dřív, než vůbec začne.</a:t>
            </a:r>
          </a:p>
        </p:txBody>
      </p:sp>
    </p:spTree>
    <p:extLst>
      <p:ext uri="{BB962C8B-B14F-4D97-AF65-F5344CB8AC3E}">
        <p14:creationId xmlns:p14="http://schemas.microsoft.com/office/powerpoint/2010/main" val="3152886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DB223FE7-C550-3421-3B83-D12CC87663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1F8F60F5-758B-D3B3-EBC8-25CC64EE6770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D668DDDD-81E7-3B29-410D-5DA28BC99C5E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25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CA01D65C-829E-52B8-997A-B173F8243EFF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DAA9955C-ACE1-87A7-46DD-5AFE5FA131CE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BEZPEČNOSTNÍ PRINCIPY KARCHIVEMANAGER 2.0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7DBB7398-8A73-B753-BBCE-76914EB70913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Auditní stopa je nepřepisovatelná + legal hold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CAEBDC1A-58B1-F583-2DBE-DDFE1870CBB4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FAFC822B-E629-9694-2D5A-0053849DCF2B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2DA805F5-99A5-1780-47CC-6701FE0F18EA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Každý běh zaznamenává kdo, kdy, který proces, okno cutoff a kolik se archivovalo vs smazalo.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53221142-3C71-81D8-CC2F-6A498696A155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C00A429D-47AC-D3E6-EA61-B9519D490070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Runner nemá na archiv DELETE/UPDATE, takže uloženou stopu nemůže umazat ani přepsat.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1A9CE2E8-478C-905A-4ED4-E4C1A391E643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DE78ADE2-BC9B-622E-161C-9FD3A68EC014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Změny konfigurace jdou přes Change history s povinným důvodem (min. 6 znaků) a jménem operátora.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AE6C5A5A-1529-7F48-79EB-0C9D1A85B2CB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E564E78F-F6AC-C6CD-AC0F-46313DC06904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Legal hold drží vybrané klíče mimo výmaz — aktivní hold je vyloučen z každé dávky.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496320E9-364D-5E21-DA87-3EEE52927BAE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41C769E9-6526-7C94-27A3-75D4603996EA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Hold přidaný až po přípravě dávky se respektuje zaparkováním klíče (Status = 5, nikdy se nesmaže).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E43F465C-D804-CFC8-E8B5-7BB4070C2FAC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10E084B1-F3F6-1114-55C3-E584F8B2CDBD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Pro vás: vždy dohledáte, kdo co spustil a změnil; data pod holdem jsou chráněná.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C61D2BA7-55FC-8013-AF7E-92345731B249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15CE0518-E053-384B-D222-267165F7B750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271BE28E-750A-E204-A1B3-38F769C2C978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Auditní stopu nelze runnerem umazat a legal hold spolehlivě ochrání data, která se mazat nesmí.</a:t>
            </a:r>
          </a:p>
        </p:txBody>
      </p:sp>
    </p:spTree>
    <p:extLst>
      <p:ext uri="{BB962C8B-B14F-4D97-AF65-F5344CB8AC3E}">
        <p14:creationId xmlns:p14="http://schemas.microsoft.com/office/powerpoint/2010/main" val="4184899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6B3BC9BC-8248-FEB1-5086-073C1AFA1C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A7BB23C0-B025-888D-B0FC-0A30A45BACB1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DE6744D6-870B-F2DF-35A2-1B804674E988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26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7229AAD1-99C8-1524-96A7-CC1AEC3165C4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4560CD17-E2F9-3E66-6FC2-BE467E967FBA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BEZPEČNOSTNÍ PRINCIPY KARCHIVEMANAGER 2.0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EE4CC901-16D8-80FA-31FC-94BDED3C13EC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>
                <a:solidFill>
                  <a:srgbClr val="14202B"/>
                </a:solidFill>
                <a:latin typeface="Segoe UI Semibold" panose="020B0702040204020203" pitchFamily="34" charset="0"/>
              </a:rPr>
              <a:t>Retention floor a časová zóna — pojistky proti chybnému výmazu</a:t>
            </a:r>
            <a:endParaRPr lang="cs-CZ" sz="2600">
              <a:solidFill>
                <a:srgbClr val="14202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0B70A190-5C80-23BA-25AA-73BF51C5E81A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91585E81-C5F9-2153-EA3A-65723ED19430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45ACD611-D9AC-6418-E727-443C995E8126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Retention floor: usp_AssertRetentionFloor vyhodí THROW 50210, když by se mazala data mladší než minimum.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87DCC09C-C641-98D4-B5B4-64F01C9F6E35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7351DF74-3416-25CC-3EC4-1BDCD8B703B2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Floor chytí jak příliš malou RetentionDays, tak příliš nedávné CutoffDate.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EF53D7EC-8BFD-1557-A148-982A9CD7F02A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02137E6D-4E6C-55CF-DB2B-95B15530911B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Časová zóna: usp_AssertTimezonePolicyApplied vyhodí THROW 50200, když cutoff není převeden na UTC.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26E21F53-0EBB-333B-C912-1242F9129AE1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A8A0D387-D42F-1940-CF5C-22C6338B1FBE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Bez AT TIME ZONE by se kvůli posunu CET/CEST smazalo o hodiny dat víc, než se má.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49A366F8-E261-01E7-4E4D-363D53A8EBFF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5BD030EC-FCB5-9D21-6302-AD3837AFD065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Obě brány platí jen pro reálný výmaz; náhledy a DryRun jsou z nich vyňaté.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249126A7-CDAF-8208-747C-2B5B0BE717FF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F04D0012-E04A-B31A-1070-339E22988B1E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Pro vás: 50210 = cutoff je moc nedávný; 50200 = chybí převod časové zóny — předejte na L2.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485D3BFD-A38B-2143-7603-C865D1CFB07F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78A01179-729A-C602-04D9-F0641787F44A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E5D39B9B-0DCA-0571-10C1-5F46FD959B04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Dvě brány hlídají hranici výmazu: retention floor (THROW 50210) i správný čas v UTC (THROW 50200) zastaví riskantní běh.</a:t>
            </a:r>
          </a:p>
        </p:txBody>
      </p:sp>
    </p:spTree>
    <p:extLst>
      <p:ext uri="{BB962C8B-B14F-4D97-AF65-F5344CB8AC3E}">
        <p14:creationId xmlns:p14="http://schemas.microsoft.com/office/powerpoint/2010/main" val="220479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FE8FE4AF-E7F0-A417-BD80-B3074DF560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B94E2DFA-9B03-822B-FFE7-58CB83931305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530F0911-0345-A5C3-1E94-A745C8A54760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27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4356A923-9BB7-D67D-667A-A2B3A14C7236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F81856BC-2DA8-9262-9867-BD448414DDA8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BEZPEČNOSTNÍ PRINCIPY KARCHIVEMANAGER 2.0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67E2FCC3-821D-0932-AC7A-DDA285CBC51E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Odpovědnost přes audit, ne anonymní zásahy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1FACED9F-2D5C-9913-013F-0F52802EAB02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9D238063-BD8D-1A63-3C43-C97D1604EF9B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141AEA18-01B0-891C-641B-76E76AE313B6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Model je audited immediate-publish: oprávněný operátor publikuje změnu hned, odpovědnost nese audit.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0F78314A-8907-B543-DD35-3BE1C74DD361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5B8C4451-E9DB-01FA-8EF9-69A4EBFFE722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Není vynucené schválení čtyřma očima — kontrolou je úplná, přiřazená auditní stopa.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6AF4C12A-A374-519E-FD14-FEB749EB4FBD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EED1C429-1EB9-4AF4-26AE-2409EB9FE8CC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Identita operátora je vázaná na skutečného uživatele (Windows/AD nebo lokální účet), ne na servisní účet.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06F025E7-5171-9DE3-8F83-693A4923FBD3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75977DAC-8DEE-0C7C-8CE4-AC7577DF153E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Mazat archiv a obnovovat data smí jen role karch_approver nebo DBA.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C4DF01EB-B363-F9B8-D7C7-485739110822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2EDDE2A2-2E8F-9A60-22A7-6DFC582B6998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Nebezpečné změny (vypnutí procesu, oslabení ochrany výmazu) vyžadují potvrzení v editoru.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49C65671-AFBA-A80E-8C65-B505023A3D97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84EAE720-1914-B751-76CF-1E47D4E960ED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Pro vás: u každé změny i běhu vždy dohledáte konkrétní jméno odpovědné osoby.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D1919482-5B0D-EE64-425D-6406260A5D78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3BA36CEB-D4D8-B161-17FD-898766005221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01C6A8D6-5686-C672-140C-0742FEE98975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Každý zásah je přiřazen ke konkrétní osobě a citlivé akce jsou vyhrazené roli approver/DBA.</a:t>
            </a:r>
          </a:p>
        </p:txBody>
      </p:sp>
    </p:spTree>
    <p:extLst>
      <p:ext uri="{BB962C8B-B14F-4D97-AF65-F5344CB8AC3E}">
        <p14:creationId xmlns:p14="http://schemas.microsoft.com/office/powerpoint/2010/main" val="35605734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CAC2E4C0-CE70-DB72-5820-626BF9A3B8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A65F53A-C9C2-EFBC-5A75-588B84DE44D4}"/>
              </a:ext>
            </a:extLst>
          </p:cNvPr>
          <p:cNvSpPr txBox="1"/>
          <p:nvPr/>
        </p:nvSpPr>
        <p:spPr>
          <a:xfrm>
            <a:off x="812800" y="8128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Bezpečnost a integrita — vrstvy ochrany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573C98E8-6894-F747-E9F2-65714D70D6CC}"/>
              </a:ext>
            </a:extLst>
          </p:cNvPr>
          <p:cNvSpPr/>
          <p:nvPr/>
        </p:nvSpPr>
        <p:spPr>
          <a:xfrm>
            <a:off x="812800" y="1422400"/>
            <a:ext cx="4826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: se zakulacenými rohy 4">
            <a:extLst>
              <a:ext uri="{FF2B5EF4-FFF2-40B4-BE49-F238E27FC236}">
                <a16:creationId xmlns:a16="http://schemas.microsoft.com/office/drawing/2014/main" id="{BA9C1E83-2740-DB0F-5166-B7985F0A7D28}"/>
              </a:ext>
            </a:extLst>
          </p:cNvPr>
          <p:cNvSpPr/>
          <p:nvPr/>
        </p:nvSpPr>
        <p:spPr>
          <a:xfrm>
            <a:off x="812800" y="1905000"/>
            <a:ext cx="7620000" cy="533400"/>
          </a:xfrm>
          <a:prstGeom prst="roundRect">
            <a:avLst/>
          </a:prstGeom>
          <a:solidFill>
            <a:srgbClr val="E0F0EC"/>
          </a:solidFill>
          <a:ln w="12700">
            <a:solidFill>
              <a:srgbClr val="0F7A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3483FFC3-A7CA-3390-EC8C-988673382055}"/>
              </a:ext>
            </a:extLst>
          </p:cNvPr>
          <p:cNvSpPr txBox="1"/>
          <p:nvPr/>
        </p:nvSpPr>
        <p:spPr>
          <a:xfrm>
            <a:off x="1016000" y="1951166"/>
            <a:ext cx="7366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200" b="1">
                <a:solidFill>
                  <a:srgbClr val="14202B"/>
                </a:solidFill>
                <a:latin typeface="Segoe UI Semibold" panose="020B0702040204020203" pitchFamily="34" charset="0"/>
              </a:rPr>
              <a:t>Least-privilege role (karch_*) — každý jen to, co potřebuje</a:t>
            </a:r>
          </a:p>
        </p:txBody>
      </p:sp>
      <p:sp>
        <p:nvSpPr>
          <p:cNvPr id="7" name="Obdélník: se zakulacenými rohy 6">
            <a:extLst>
              <a:ext uri="{FF2B5EF4-FFF2-40B4-BE49-F238E27FC236}">
                <a16:creationId xmlns:a16="http://schemas.microsoft.com/office/drawing/2014/main" id="{FCE5CF60-B6BC-CD4C-C2EC-7604113339E0}"/>
              </a:ext>
            </a:extLst>
          </p:cNvPr>
          <p:cNvSpPr/>
          <p:nvPr/>
        </p:nvSpPr>
        <p:spPr>
          <a:xfrm>
            <a:off x="812800" y="2540000"/>
            <a:ext cx="7620000" cy="53340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0F7A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144CDFEE-8ED8-EE10-F171-BA3AAA8D6F08}"/>
              </a:ext>
            </a:extLst>
          </p:cNvPr>
          <p:cNvSpPr txBox="1"/>
          <p:nvPr/>
        </p:nvSpPr>
        <p:spPr>
          <a:xfrm>
            <a:off x="1016000" y="2586166"/>
            <a:ext cx="7366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nb-NO" sz="1200" b="1">
                <a:solidFill>
                  <a:srgbClr val="14202B"/>
                </a:solidFill>
                <a:latin typeface="Segoe UI Semibold" panose="020B0702040204020203" pitchFamily="34" charset="0"/>
              </a:rPr>
              <a:t>Runner privilege gate — runner nesmí být sysadmin (THROW 51001)</a:t>
            </a:r>
            <a:endParaRPr lang="cs-CZ" sz="1200" b="1">
              <a:solidFill>
                <a:srgbClr val="14202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9" name="Obdélník: se zakulacenými rohy 8">
            <a:extLst>
              <a:ext uri="{FF2B5EF4-FFF2-40B4-BE49-F238E27FC236}">
                <a16:creationId xmlns:a16="http://schemas.microsoft.com/office/drawing/2014/main" id="{580C8175-1D46-FF42-A116-C60D01015B81}"/>
              </a:ext>
            </a:extLst>
          </p:cNvPr>
          <p:cNvSpPr/>
          <p:nvPr/>
        </p:nvSpPr>
        <p:spPr>
          <a:xfrm>
            <a:off x="812800" y="3175000"/>
            <a:ext cx="7620000" cy="533400"/>
          </a:xfrm>
          <a:prstGeom prst="roundRect">
            <a:avLst/>
          </a:prstGeom>
          <a:solidFill>
            <a:srgbClr val="E0F0EC"/>
          </a:solidFill>
          <a:ln w="12700">
            <a:solidFill>
              <a:srgbClr val="0F7A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BFCD2349-9B0F-85AF-D1F6-308256A1EA00}"/>
              </a:ext>
            </a:extLst>
          </p:cNvPr>
          <p:cNvSpPr txBox="1"/>
          <p:nvPr/>
        </p:nvSpPr>
        <p:spPr>
          <a:xfrm>
            <a:off x="1016000" y="3221166"/>
            <a:ext cx="7366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200" b="1">
                <a:solidFill>
                  <a:srgbClr val="14202B"/>
                </a:solidFill>
                <a:latin typeface="Segoe UI Semibold" panose="020B0702040204020203" pitchFamily="34" charset="0"/>
              </a:rPr>
              <a:t>Výběr bez zámků (NOLOCK) + NIKDY indexy ve zdrojové DB</a:t>
            </a:r>
          </a:p>
        </p:txBody>
      </p:sp>
      <p:sp>
        <p:nvSpPr>
          <p:cNvPr id="11" name="Obdélník: se zakulacenými rohy 10">
            <a:extLst>
              <a:ext uri="{FF2B5EF4-FFF2-40B4-BE49-F238E27FC236}">
                <a16:creationId xmlns:a16="http://schemas.microsoft.com/office/drawing/2014/main" id="{9453CCC6-8B8F-6F67-5B94-FEF5F9A03541}"/>
              </a:ext>
            </a:extLst>
          </p:cNvPr>
          <p:cNvSpPr/>
          <p:nvPr/>
        </p:nvSpPr>
        <p:spPr>
          <a:xfrm>
            <a:off x="812800" y="3810000"/>
            <a:ext cx="7620000" cy="53340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0F7A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E6764CB3-5D99-69D0-047C-2AD7F3028711}"/>
              </a:ext>
            </a:extLst>
          </p:cNvPr>
          <p:cNvSpPr txBox="1"/>
          <p:nvPr/>
        </p:nvSpPr>
        <p:spPr>
          <a:xfrm>
            <a:off x="1016000" y="3856166"/>
            <a:ext cx="7366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200" b="1">
                <a:solidFill>
                  <a:srgbClr val="14202B"/>
                </a:solidFill>
                <a:latin typeface="Segoe UI Semibold" panose="020B0702040204020203" pitchFamily="34" charset="0"/>
              </a:rPr>
              <a:t>Archivace VŽDY před mazáním — nikdy delete bez zálohy</a:t>
            </a:r>
          </a:p>
        </p:txBody>
      </p:sp>
      <p:sp>
        <p:nvSpPr>
          <p:cNvPr id="13" name="Obdélník: se zakulacenými rohy 12">
            <a:extLst>
              <a:ext uri="{FF2B5EF4-FFF2-40B4-BE49-F238E27FC236}">
                <a16:creationId xmlns:a16="http://schemas.microsoft.com/office/drawing/2014/main" id="{0CAFE986-1905-8C61-37B5-DEDD7FB149D4}"/>
              </a:ext>
            </a:extLst>
          </p:cNvPr>
          <p:cNvSpPr/>
          <p:nvPr/>
        </p:nvSpPr>
        <p:spPr>
          <a:xfrm>
            <a:off x="812800" y="4445000"/>
            <a:ext cx="7620000" cy="533400"/>
          </a:xfrm>
          <a:prstGeom prst="roundRect">
            <a:avLst/>
          </a:prstGeom>
          <a:solidFill>
            <a:srgbClr val="E0F0EC"/>
          </a:solidFill>
          <a:ln w="12700">
            <a:solidFill>
              <a:srgbClr val="0F7A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7B8C2E0E-A7C7-89DE-DE08-BC2DC82F7A17}"/>
              </a:ext>
            </a:extLst>
          </p:cNvPr>
          <p:cNvSpPr txBox="1"/>
          <p:nvPr/>
        </p:nvSpPr>
        <p:spPr>
          <a:xfrm>
            <a:off x="1016000" y="4491166"/>
            <a:ext cx="7366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nl-NL" sz="1200" b="1">
                <a:solidFill>
                  <a:srgbClr val="14202B"/>
                </a:solidFill>
                <a:latin typeface="Segoe UI Semibold" panose="020B0702040204020203" pitchFamily="34" charset="0"/>
              </a:rPr>
              <a:t>Audit trail je neměnný (tamper-resistant, DENY na úpravy)</a:t>
            </a:r>
            <a:endParaRPr lang="cs-CZ" sz="1200" b="1">
              <a:solidFill>
                <a:srgbClr val="14202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5" name="Obdélník: se zakulacenými rohy 14">
            <a:extLst>
              <a:ext uri="{FF2B5EF4-FFF2-40B4-BE49-F238E27FC236}">
                <a16:creationId xmlns:a16="http://schemas.microsoft.com/office/drawing/2014/main" id="{DA214DDD-1EC9-FF43-9B5A-350F8AE8CC9D}"/>
              </a:ext>
            </a:extLst>
          </p:cNvPr>
          <p:cNvSpPr/>
          <p:nvPr/>
        </p:nvSpPr>
        <p:spPr>
          <a:xfrm>
            <a:off x="812800" y="5080000"/>
            <a:ext cx="7620000" cy="53340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0F7A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20858C83-777D-8F8B-F7E9-E20E03944D3E}"/>
              </a:ext>
            </a:extLst>
          </p:cNvPr>
          <p:cNvSpPr txBox="1"/>
          <p:nvPr/>
        </p:nvSpPr>
        <p:spPr>
          <a:xfrm>
            <a:off x="1016000" y="5126166"/>
            <a:ext cx="7366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200" b="1">
                <a:solidFill>
                  <a:srgbClr val="14202B"/>
                </a:solidFill>
                <a:latin typeface="Segoe UI Semibold" panose="020B0702040204020203" pitchFamily="34" charset="0"/>
              </a:rPr>
              <a:t>Záloha archivu (FULL+LOG) + Restore z archivu</a:t>
            </a:r>
          </a:p>
        </p:txBody>
      </p:sp>
      <p:sp>
        <p:nvSpPr>
          <p:cNvPr id="17" name="Obdélník: se zakulacenými rohy 16">
            <a:extLst>
              <a:ext uri="{FF2B5EF4-FFF2-40B4-BE49-F238E27FC236}">
                <a16:creationId xmlns:a16="http://schemas.microsoft.com/office/drawing/2014/main" id="{9EED4C4D-D139-8178-2448-C9C643150C6F}"/>
              </a:ext>
            </a:extLst>
          </p:cNvPr>
          <p:cNvSpPr/>
          <p:nvPr/>
        </p:nvSpPr>
        <p:spPr>
          <a:xfrm>
            <a:off x="8763000" y="1905000"/>
            <a:ext cx="2616200" cy="3810000"/>
          </a:xfrm>
          <a:prstGeom prst="roundRect">
            <a:avLst/>
          </a:prstGeom>
          <a:solidFill>
            <a:srgbClr val="0E1A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25705827-C9B2-F77E-BC8F-D29733B5250A}"/>
              </a:ext>
            </a:extLst>
          </p:cNvPr>
          <p:cNvSpPr txBox="1"/>
          <p:nvPr/>
        </p:nvSpPr>
        <p:spPr>
          <a:xfrm>
            <a:off x="8966200" y="2133600"/>
            <a:ext cx="228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300" b="1">
                <a:solidFill>
                  <a:srgbClr val="0F7A63"/>
                </a:solidFill>
                <a:latin typeface="Segoe UI Semibold" panose="020B0702040204020203" pitchFamily="34" charset="0"/>
              </a:rPr>
              <a:t>Další pojistky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B0A370D5-6C6F-1A08-32AB-7006B0DF1DEA}"/>
              </a:ext>
            </a:extLst>
          </p:cNvPr>
          <p:cNvSpPr txBox="1"/>
          <p:nvPr/>
        </p:nvSpPr>
        <p:spPr>
          <a:xfrm>
            <a:off x="8966200" y="2540000"/>
            <a:ext cx="2260600" cy="18620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FFFFFF"/>
                </a:solidFill>
                <a:latin typeface="Segoe UI" panose="020B0502040204020203" pitchFamily="34" charset="0"/>
              </a:rPr>
              <a:t>▪  Časová zóna / UTC cutoff</a:t>
            </a:r>
          </a:p>
          <a:p>
            <a:r>
              <a:rPr lang="cs-CZ" sz="1100">
                <a:solidFill>
                  <a:srgbClr val="FFFFFF"/>
                </a:solidFill>
                <a:latin typeface="Segoe UI" panose="020B0502040204020203" pitchFamily="34" charset="0"/>
              </a:rPr>
              <a:t>   (THROW 50200)</a:t>
            </a:r>
          </a:p>
          <a:p>
            <a:endParaRPr lang="cs-CZ" sz="110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r>
              <a:rPr lang="cs-CZ" sz="1100">
                <a:solidFill>
                  <a:srgbClr val="FFFFFF"/>
                </a:solidFill>
                <a:latin typeface="Segoe UI" panose="020B0502040204020203" pitchFamily="34" charset="0"/>
              </a:rPr>
              <a:t>▪  Retention floor</a:t>
            </a:r>
          </a:p>
          <a:p>
            <a:r>
              <a:rPr lang="cs-CZ" sz="1100">
                <a:solidFill>
                  <a:srgbClr val="FFFFFF"/>
                </a:solidFill>
                <a:latin typeface="Segoe UI" panose="020B0502040204020203" pitchFamily="34" charset="0"/>
              </a:rPr>
              <a:t>   (THROW 50210)</a:t>
            </a:r>
          </a:p>
          <a:p>
            <a:endParaRPr lang="cs-CZ" sz="110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r>
              <a:rPr lang="cs-CZ" sz="1100">
                <a:solidFill>
                  <a:srgbClr val="FFFFFF"/>
                </a:solidFill>
                <a:latin typeface="Segoe UI" panose="020B0502040204020203" pitchFamily="34" charset="0"/>
              </a:rPr>
              <a:t>▪  Legal hold</a:t>
            </a:r>
          </a:p>
          <a:p>
            <a:r>
              <a:rPr lang="cs-CZ" sz="1100">
                <a:solidFill>
                  <a:srgbClr val="FFFFFF"/>
                </a:solidFill>
                <a:latin typeface="Segoe UI" panose="020B0502040204020203" pitchFamily="34" charset="0"/>
              </a:rPr>
              <a:t>   (právní blokace mazání)</a:t>
            </a:r>
          </a:p>
          <a:p>
            <a:endParaRPr lang="cs-CZ" sz="110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r>
              <a:rPr lang="cs-CZ" sz="1100">
                <a:solidFill>
                  <a:srgbClr val="FFFFFF"/>
                </a:solidFill>
                <a:latin typeface="Segoe UI" panose="020B0502040204020203" pitchFamily="34" charset="0"/>
              </a:rPr>
              <a:t>▪  Recovery uvízlých běhů</a:t>
            </a:r>
          </a:p>
          <a:p>
            <a:r>
              <a:rPr lang="cs-CZ" sz="1100">
                <a:solidFill>
                  <a:srgbClr val="FFFFFF"/>
                </a:solidFill>
                <a:latin typeface="Segoe UI" panose="020B0502040204020203" pitchFamily="34" charset="0"/>
              </a:rPr>
              <a:t>   (job à 15 min)</a:t>
            </a:r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580958E7-6855-AE17-B68C-4300B6F4F204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9A811A59-DD5A-005A-6F26-0D496D6937D7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endParaRPr lang="cs-CZ" sz="900">
              <a:solidFill>
                <a:srgbClr val="5B6B78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0A8187C7-985A-6930-05C1-49A671EFE98A}"/>
              </a:ext>
            </a:extLst>
          </p:cNvPr>
          <p:cNvSpPr/>
          <p:nvPr/>
        </p:nvSpPr>
        <p:spPr>
          <a:xfrm>
            <a:off x="0" y="0"/>
            <a:ext cx="76200" cy="5334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774212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7B60F9CB-09F6-819B-764B-F115E638A6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99F4A01F-AD75-314B-5482-E21F202312CB}"/>
              </a:ext>
            </a:extLst>
          </p:cNvPr>
          <p:cNvSpPr txBox="1"/>
          <p:nvPr/>
        </p:nvSpPr>
        <p:spPr>
          <a:xfrm>
            <a:off x="812800" y="2159000"/>
            <a:ext cx="2540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7200">
                <a:solidFill>
                  <a:srgbClr val="0F7A63"/>
                </a:solidFill>
                <a:latin typeface="Segoe UI Light" panose="020B0502040204020203" pitchFamily="34" charset="0"/>
              </a:rPr>
              <a:t>04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FF546E16-9E0C-3458-37DE-05829F26A8AA}"/>
              </a:ext>
            </a:extLst>
          </p:cNvPr>
          <p:cNvSpPr/>
          <p:nvPr/>
        </p:nvSpPr>
        <p:spPr>
          <a:xfrm>
            <a:off x="889000" y="3429000"/>
            <a:ext cx="1143000" cy="50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9D11050-8EC0-FD26-D1DB-362B11BEDAE2}"/>
              </a:ext>
            </a:extLst>
          </p:cNvPr>
          <p:cNvSpPr txBox="1"/>
          <p:nvPr/>
        </p:nvSpPr>
        <p:spPr>
          <a:xfrm>
            <a:off x="812800" y="3683000"/>
            <a:ext cx="10566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3400">
                <a:solidFill>
                  <a:srgbClr val="FFFFFF"/>
                </a:solidFill>
                <a:latin typeface="Segoe UI Semibold" panose="020B0702040204020203" pitchFamily="34" charset="0"/>
              </a:rPr>
              <a:t>Jednotlivé funkce a jejich high-level řešení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59A843DE-958D-685F-AD62-B6F8226602A2}"/>
              </a:ext>
            </a:extLst>
          </p:cNvPr>
          <p:cNvSpPr txBox="1"/>
          <p:nvPr/>
        </p:nvSpPr>
        <p:spPr>
          <a:xfrm>
            <a:off x="812800" y="6350000"/>
            <a:ext cx="508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0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</p:spTree>
    <p:extLst>
      <p:ext uri="{BB962C8B-B14F-4D97-AF65-F5344CB8AC3E}">
        <p14:creationId xmlns:p14="http://schemas.microsoft.com/office/powerpoint/2010/main" val="21732303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E93CAAD2-4F55-BB4C-006B-27F52AC057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7B1BD2EC-6203-3859-950C-B662A7E7F5C0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FF44AA49-63BA-7233-8F51-4A3899F847F8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30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E53351AA-0B87-4E29-ECF6-4B9FB3576276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2EC4139D-4988-7C45-1067-E9B7A8BBF856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JEDNOTLIVÉ FUNKCE A JEJICH HIGH-LEVEL ŘEŠENÍ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3A420F2F-6CFC-B17F-2B7D-71439C554C9A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Archivace — automatický noční běh přes SQL Agent joby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71E0DB41-ADDF-712F-D3E7-009F77BE6128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1A0F0448-B0DF-EA50-8BAE-EFD3F50F21D4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83235B56-15D3-78D4-7EE5-E49428FF9668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Archivace běží automaticky v nočních SQL Agent jobech — ručně ji nespouštíme.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00B9504C-A7D7-0DBB-E454-73AA3B36B164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FDFCC410-7A2B-9CEF-99E2-A029F79D4F15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Tok má tři kroky: výběr kandidátů → záloha do archivu → smazání ze zdroje.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F834DD2A-6677-B931-7964-F6CBC60884C4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9B488A82-BE2E-FDA7-1A56-3421E0959A23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Výběr kandidátů produkci nezamyká (čte bez zámků), mazání jde po malých dávkách v nočním okně.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187B22A0-39E8-A08A-FE9A-9AB3B716AEC8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9A773FAB-7264-E5EF-A137-34C0E77C9B8D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Záloha a smazání běží v jedné transakci — nikdy se nesmaže nic, co není v archivu.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B08E5E82-4BFB-D9FA-663F-5EDE19B51882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453CD7EE-BC8D-1CA4-B487-AE955C9F53FF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Dvě strategie výběru podle typu dat: ANCHOR (doklad + jeho řádky) a TIMESTAMP (logy podle času).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5AF3BF98-980B-B104-9B87-0525A3C5B0BB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2A07004C-4D1D-3EB8-62C4-3C418EE7C128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L1 sleduje stav jobů na Dashboardu a v Runs; chyby PREP/RUN jobů eskaluje na L2.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97A17214-3430-A330-F6A8-642A1912CA15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18732F95-734F-1075-B26C-5CA8DE229F48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AC08364F-BFBD-DB94-0DDE-CC720AE8015B}"/>
              </a:ext>
            </a:extLst>
          </p:cNvPr>
          <p:cNvSpPr txBox="1"/>
          <p:nvPr/>
        </p:nvSpPr>
        <p:spPr>
          <a:xfrm>
            <a:off x="1066800" y="5805845"/>
            <a:ext cx="101092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Archivace je automatizovaná noční operace (výběr → záloha → smazání v jedné transakci); vy ji v konzoli sledujete, nespouštíte ručně.</a:t>
            </a:r>
          </a:p>
        </p:txBody>
      </p:sp>
    </p:spTree>
    <p:extLst>
      <p:ext uri="{BB962C8B-B14F-4D97-AF65-F5344CB8AC3E}">
        <p14:creationId xmlns:p14="http://schemas.microsoft.com/office/powerpoint/2010/main" val="41210137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7C104730-329C-EF1E-EE61-3B2F3270FF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EB90B5CD-608E-65BB-12C0-718716F41795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0BC1CB8E-88F5-C9FC-1018-191F54C937A1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31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8FF15339-BFB9-E58D-BD14-336001E8BF11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A0E1297F-D2EB-6C27-5D95-51CD691AEFC7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JEDNOTLIVÉ FUNKCE A JEJICH HIGH-LEVEL ŘEŠENÍ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C6B2D5CD-75FD-8BFD-27D8-52B33085B6B6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Produkční běh jde výhradně přes připravený (Prepared) postup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FAC494CD-AD9B-303B-5AE8-C75730BC57A4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C4042D88-338B-97C2-DE5A-85AB89009E55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388898C5-BBFB-A339-605B-E62738A53351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Veškerý produkční běh jde výhradně přes proceduru arch.usp_RunProfile_Prepared.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8E09C1A3-4371-3504-0FFF-737B728E2028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17EF3C50-CDF6-C993-2263-C61DF495E80B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Staré (legacy) v1.0 procedury jsou záměrně blokované a vrací chybu — nelze je obejít.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DB6C6A41-FCE9-2778-DBF1-AF4AEC55E6A4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B25C6EFA-792B-3512-6F14-C6522D749865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Pokus o legacy proceduru skončí chybou 50004 s jasnou hláškou „LEGACY PROCEDURE BLOCKED“.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04BCE53B-EF41-23EE-10B4-DC98B783FDB6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6DDCA5F1-320F-788E-6483-86F2114291D7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Blokace chrání před nasazením staré logiky a zajišťuje jednotný auditovaný postup.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2AA3E49D-B188-B610-8CE5-5A68B26B450C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B59DE0D7-B3DF-9C5D-ED22-E1BDE4269363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Pozor: 51001 je jiná chyba — runner job nemá oprávnění (typicky po obnově zdrojové DB).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CAB2953E-55A6-0C87-9EC2-82537845C3D9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32488A35-A818-5F4B-0C9B-D9C9D9BC3567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Na 51001 reaguje L2 (znovu spustit skripty 053+054); řešení je v deploy guide.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43645D34-42F5-B621-71E6-668E60DE94B3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0F6DBDF1-25BF-A460-2C03-0BA300C04176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7424281D-D36C-66FC-86D3-884E7374ABA7}"/>
              </a:ext>
            </a:extLst>
          </p:cNvPr>
          <p:cNvSpPr txBox="1"/>
          <p:nvPr/>
        </p:nvSpPr>
        <p:spPr>
          <a:xfrm>
            <a:off x="1066800" y="5805845"/>
            <a:ext cx="101092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Produkce běží jen přes usp_RunProfile_Prepared; legacy je blokované (chyba 50004), zatímco 51001 je samostatná chyba oprávnění runneru.</a:t>
            </a:r>
          </a:p>
        </p:txBody>
      </p:sp>
    </p:spTree>
    <p:extLst>
      <p:ext uri="{BB962C8B-B14F-4D97-AF65-F5344CB8AC3E}">
        <p14:creationId xmlns:p14="http://schemas.microsoft.com/office/powerpoint/2010/main" val="1765177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38E5BAB1-F577-86D2-6B1A-704982AFEF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FDBB182A-7CB7-6ACE-A111-354B26B2F4F8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583FAB9F-36FB-2D29-5F17-847B3A5A9D84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32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BA62609B-AFDF-DBF7-0810-805898194B78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74398B36-784E-6635-6F91-C44B6CFCBDAB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JEDNOTLIVÉ FUNKCE A JEJICH HIGH-LEVEL ŘEŠENÍ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EF78A5B8-8413-20D3-942A-FE9528455B64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Audit běhů a dohledání dokladu (Document lookup)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E8AF5D8F-DC6F-78AE-5F3F-AE7619FDF2CC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38668985-4163-CE6C-8215-31E3ABC357D6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88537B3D-0681-1516-2A48-EC65EE237957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Každý běh zaznamenává kdo, kdy, jaký proces, zdroj/archiv DB, cutoff a počty řádků.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F0FA8C39-8E84-205B-4EA7-096733B9536B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3CC4C1FB-0757-C195-C43A-211D9180D83D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Tabulky arch.Run, arch.RunItem a arch.RunItemObject drží souhrnný (batch) audit běhu.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DC815256-E75D-480C-A4FC-3D1839B8B045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28649A84-E91E-40BC-1F7C-959213CB5A4E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Per-dokladová stopa (arch.RunDocAudit) vzniká jen u procesů s AuditLevel = ROW.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CB8E9F7D-5E26-FBCC-C7F2-A67B718FF8A1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7B707DAF-48B5-A08F-C8AD-6847C9792442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Při BATCH/NONE je RunDocAudit prázdný a Document lookup konkrétní doklad nenajde.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BFB874C5-341E-FFA1-6E67-87A7EB0DC864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B47ECBDC-B8B2-4A28-E838-F096381F0ADD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Document lookup odpoví „byl tenhle doklad zarchivován?“ — zadá se klíč, ukáže kdy a kam.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EC356B60-676C-D248-8B7E-0F176A9D3B85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79854E41-8742-C58B-73B5-B9BB11F645C3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Audit nelze měnit ani mazat; čtení auditu a logů je doména L2.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DDA8D098-0A7A-FFDF-FCE1-2B41C90F2018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6F57620B-D40F-7E68-EAFA-FE7D1AFE60D3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A88B9A3C-248D-5EA5-A69F-55B5B68CEF6B}"/>
              </a:ext>
            </a:extLst>
          </p:cNvPr>
          <p:cNvSpPr txBox="1"/>
          <p:nvPr/>
        </p:nvSpPr>
        <p:spPr>
          <a:xfrm>
            <a:off x="1066800" y="5805845"/>
            <a:ext cx="101092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Běhy jsou auditované (Run/RunItem); per-dokladové dohledání v Document lookup funguje jen u procesů nastavených na ROW audit.</a:t>
            </a:r>
          </a:p>
        </p:txBody>
      </p:sp>
    </p:spTree>
    <p:extLst>
      <p:ext uri="{BB962C8B-B14F-4D97-AF65-F5344CB8AC3E}">
        <p14:creationId xmlns:p14="http://schemas.microsoft.com/office/powerpoint/2010/main" val="4163294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61B858E7-3751-F20C-A867-A2434E0222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9E303EEA-F662-23B6-6AEB-F6E32FDEECE8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F9250CE1-0EB6-3FAE-251A-43D3ACEF9C59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33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BE10F041-5A86-A329-FAA7-9C1D0D189E96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CAED667E-32DE-843F-FAE6-F430E7C40907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JEDNOTLIVÉ FUNKCE A JEJICH HIGH-LEVEL ŘEŠENÍ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C6F09682-75C3-5439-3085-E69F0591AF6F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Archiv jako úložiště smazaných dat + zálohy archivu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56290C1E-CC09-7DE6-E884-6C4E43985487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71FBD83F-8AA7-29BF-B7B5-01D64FC9D870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78BA4C90-D6EC-968C-9C6C-F24363113E47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Archivní DB kArchiveManagerBackups uchovává kopie všech smazaných řádků.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EF27B990-C8D3-6667-197A-A8E2483EEFD5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AC183A88-EC04-8884-BFE8-8D032E7BB911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V režimu Mode 1 platí: archivováno == smazáno, kontrolní číslo Divergence = 0.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A6FF514D-4153-1CA4-AB76-9883AF7B3886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50D91B54-886B-33FC-D9F5-8BAB6B1018CB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Pokud Divergence ≠ 0, je to vážný signál — okamžitá eskalace na engineering.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97D0CD23-044D-50A6-675A-A7C671ED7FD4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1CC3A6DD-15B7-E7FE-9943-C00B83496426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Záloha do archivu a smazání ze zdroje jsou atomické (jedna transakce).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2B0E6417-26E3-E068-D6C9-AA35920085E4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23FF0159-1A25-210D-42D9-C7ADE866C743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Archiv je samostatná DB se zálohovacími joby; znovunasazení záloh (skript 048) řeší L2.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3E748792-CBF3-2E12-BCF0-F208574C82DD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F90942CE-CB3A-3395-B627-9D4997FAE00B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Data nejsou ztracená — lze je dohledat (Document lookup) i vrátit zpět (restore).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1C024495-E736-086C-8F5A-A57AFF2E7E8B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29807D6C-7484-35DD-A9BC-EABA071776E8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27AC7BB3-4E84-2730-BAF8-E75256581B6A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Archiv kArchiveManagerBackups je úložiště smazaných dat; u Mode 1 musí Divergence = 0, jinak se nic nesmaže.</a:t>
            </a:r>
          </a:p>
        </p:txBody>
      </p:sp>
    </p:spTree>
    <p:extLst>
      <p:ext uri="{BB962C8B-B14F-4D97-AF65-F5344CB8AC3E}">
        <p14:creationId xmlns:p14="http://schemas.microsoft.com/office/powerpoint/2010/main" val="39568186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E7FEF514-A273-44BE-6BC5-6AC6F8D950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57D1E1C9-3A5C-3C92-B508-457D0DA88F0D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20FBD4E7-47AD-2EA5-0DF1-DD2FD28E1002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34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4A31B711-1F10-42B3-D887-3727B14C8691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281DF654-F06C-CCB5-9F19-4B40C368D12D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JEDNOTLIVÉ FUNKCE A JEJICH HIGH-LEVEL ŘEŠENÍ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9A4E5A3B-5201-7E6D-5649-F2F8CAAE8E77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600">
                <a:solidFill>
                  <a:srgbClr val="14202B"/>
                </a:solidFill>
                <a:latin typeface="Segoe UI Semibold" panose="020B0702040204020203" pitchFamily="34" charset="0"/>
              </a:rPr>
              <a:t>Restore — vrácení dokladu z archivu zpět do produkce</a:t>
            </a:r>
            <a:endParaRPr lang="cs-CZ" sz="2600">
              <a:solidFill>
                <a:srgbClr val="14202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AAB1B440-8081-00A9-2492-15AF1B25CD67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2D4160D5-22B1-15D8-BD6D-BFC436A2456F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518A145A-67B1-F1F0-AD18-5923F7691755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Restore = řádkové vrácení zarchivovaných dat z archivu zpět do zdrojové DB.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0722E0C0-4BD9-34A0-31B7-60C49D434C7C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D574CB4F-A2CD-2D04-9F45-E18C4EAB4823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Spouští se výhradně z Admin Console — nikdy ne ručním zásahem do databáze.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FCA842FB-94EF-09EE-9150-9A11B77EF4F9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74423100-291D-B4D4-94CA-DF0534A63391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Vyžaduje vyšší (elevated) oprávnění, proto je restore vždy doménou L2.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E2FCA64C-86E0-1929-4E89-5D5E0707CDF1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90260A9E-5504-BB13-2F37-27E6C6B2AA2F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L1 dotaz „potřebuju doklad zpět“ nezpracovává sám — eskaluje na L2.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7B0649FF-AC42-8C06-787E-9E65BF4155C4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4D445B36-76EE-7539-DA78-201BF52F1755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Restore se provádí jen se souhlasem (vrácení dat zpět do produkce je citlivá operace).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B2FF77A4-2806-DCA3-459F-3012F4E8E1D9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9A9EC3B2-07D9-07C3-44A6-D7449CAEA60F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Před restorem L1 ověří v Document lookup, že doklad v archivu skutečně je.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689A4A2E-736A-D3FA-3568-3A6EFF251740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C971DCC5-3D9C-5D9E-DF9D-A8B19394BDD0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072AD64A-61A4-050B-EDB2-F365847475C2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Restore bezpečně vrací data z archivu do produkce; je to elevated operace pro L2, jen přes konzoli a se souhlasem.</a:t>
            </a:r>
          </a:p>
        </p:txBody>
      </p:sp>
    </p:spTree>
    <p:extLst>
      <p:ext uri="{BB962C8B-B14F-4D97-AF65-F5344CB8AC3E}">
        <p14:creationId xmlns:p14="http://schemas.microsoft.com/office/powerpoint/2010/main" val="20267292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8866B24F-32F8-AFDD-56F4-F60EC5191F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EBD3BC87-FF1E-B53C-AF03-F4E4BDA9DC05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6A87C856-DA64-220C-9168-9E93DFD87C66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35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860AE24B-3D67-F563-FACB-3D5D48AA860C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861DD319-85C8-E265-C7F5-A261BEB61B53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JEDNOTLIVÉ FUNKCE A JEJICH HIGH-LEVEL ŘEŠENÍ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F74601E1-E405-7803-0ED4-818A1DB56BE3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600">
                <a:solidFill>
                  <a:srgbClr val="14202B"/>
                </a:solidFill>
                <a:latin typeface="Segoe UI Semibold" panose="020B0702040204020203" pitchFamily="34" charset="0"/>
              </a:rPr>
              <a:t>Preventivní kontroly — Validace konfigurace a Odhady</a:t>
            </a:r>
            <a:endParaRPr lang="cs-CZ" sz="2600">
              <a:solidFill>
                <a:srgbClr val="14202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74A01D27-D7E4-49A8-91C4-9F00C5887105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EC158349-1F8C-4BA2-BB8B-91FBC3A66D94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F88D8DCF-CCB8-01C0-752D-9425040E6772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Validation kontroluje konfiguraci (usp_ValidateConfiguration) a hlásí chybějící indexy.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35F8EDC1-B66A-CBD3-BA36-93C342D49F3D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2039C38B-FC72-BA1B-99AB-D89D385110BA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Výstup jsou jen doporučení — indexy se do zákaznické DB nenasazují automaticky.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49815F20-310F-A86B-E050-3AEE53506A8A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B2CF4EAB-F67E-352B-838F-09E79ACEB5AE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Analysis &amp; Estimates odhadne, kolik příští běh zpracuje: počty řádků a MB.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E1B0E7F5-7A80-0C04-7F08-3BD3717E0052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16FC990C-1816-0D47-244B-1C63735D55DF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Estimates zobrazí i grafy zdroj vs archiv pro rychlou orientaci o objemu dat.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EBD81CD4-AEC7-7356-3ED4-C2438C1F7C30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3FC0DF30-53CC-7628-EC94-46E6F7BDAF70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Chyba odhadu (kódy 50500+) je většinou neškodná — L1 zkusí znovu, jinak eskaluje na L2.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670D1EEF-4A57-96AB-2EBF-DBBBD08CBB3D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37D1C5F3-45B4-3709-7F1F-1D1EF8D8471F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Tyto nástroje umožní posoudit dopad a správnost dřív, než se cokoli smaže.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90EA87F1-200E-1053-6161-6AA592056E8A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0F1A386A-DE25-B989-F4AF-7A3BD179C7F5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6BB4420E-B451-6996-DAD4-8808D7A12D04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Validace konfigurace a Odhady jsou preventivní nástroje, které ukážou správnost a dopad ještě před ostrým během.</a:t>
            </a:r>
          </a:p>
        </p:txBody>
      </p:sp>
    </p:spTree>
    <p:extLst>
      <p:ext uri="{BB962C8B-B14F-4D97-AF65-F5344CB8AC3E}">
        <p14:creationId xmlns:p14="http://schemas.microsoft.com/office/powerpoint/2010/main" val="4240770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1FAC7C27-7A19-64A3-AF82-63FC7C58D2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574E63E9-390C-CA31-35BC-CC0FA91D971C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5AC4A871-C2C8-0075-DBA3-7F57BA2B9BA1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36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395605D-3460-9B88-8E84-34DADC8C380B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CD10FB15-8B18-A2DA-E72B-628D75598D66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JEDNOTLIVÉ FUNKCE A JEJICH HIGH-LEVEL ŘEŠENÍ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C4E35189-79D0-8B40-91DE-FF001B6B7623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Go-live — finální kontrolní seznam před produkcí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4E2AAACF-4EF5-5BA5-FDB5-1A45A9CB7B0F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C6719BDD-5CE0-2554-671B-01C5E4064CEA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0085F69A-8073-F2FE-D8A9-00142A8DEDFB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Obrazovka Go-live je finální kontrolní seznam před produkčním spuštěním.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D22F214C-FED2-6BBF-61A8-6209B794DBC7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7137BADE-A368-C33C-CE84-3BC03900EF37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Operacionalizuje produkční audit do sady kontrol, které jsou jen pro čtení.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974A7DE0-CD70-68A2-54AB-13B2A83A0486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AAD47906-E5BF-DDF0-E503-63E2012104B1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L1/L2 zde vidí, zda jsou splněny předpoklady pro zapnutí reálného mazání.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DB8D7F96-8190-9815-FCBB-05C201F92540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4AF5C6AA-D112-F305-7977-845A3FD30CCD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Nevyřešené body znamenají, že produkce se ještě nesmí zapnout.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63796483-BD6B-91B2-639C-2C1D83FD0A13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19D17A28-5BED-EAAD-6DDF-F7FC199466FB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Go-live navazuje na schvalovací checklist (DRYRUN, indexy, cutoff, audit, pilotní běh).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4640719F-42BD-7683-2ED5-E1968B269BBF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D1B8DDA5-C9B0-E289-8B31-3DE57F14E38F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Rozhodnutí o produkčním spuštění je v kompetenci L2 / administrátora, ne L1.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C95C306F-906F-2693-F345-D2B1677C0D34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7B6BC61B-5E3F-3C66-5922-48F58E79E22D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0B8F36D9-4221-34B8-429F-23B9FE3E3526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Go-live je poslední kontrolní seznam před produkcí — dokud nejsou kontroly splněné, reálné mazání se nezapíná.</a:t>
            </a:r>
          </a:p>
        </p:txBody>
      </p:sp>
    </p:spTree>
    <p:extLst>
      <p:ext uri="{BB962C8B-B14F-4D97-AF65-F5344CB8AC3E}">
        <p14:creationId xmlns:p14="http://schemas.microsoft.com/office/powerpoint/2010/main" val="4008497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BF0AE0BF-29A4-AC7C-9618-3A5A818850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14F97F37-73A1-F718-E476-A4D0B08DC67A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F5F6DEAB-C65C-C714-2476-86AB3B473D2E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37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D24CEC5-6A13-AB2B-05BB-ADFB9EB7AA1E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CB218A34-447E-E03F-56D2-C48FF65EAF69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JEDNOTLIVÉ FUNKCE A JEJICH HIGH-LEVEL ŘEŠENÍ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3CD9FA0A-C949-0456-B276-5D9484B94CCD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2600">
                <a:solidFill>
                  <a:srgbClr val="14202B"/>
                </a:solidFill>
                <a:latin typeface="Segoe UI Semibold" panose="020B0702040204020203" pitchFamily="34" charset="0"/>
              </a:rPr>
              <a:t>Servisní a provozní funkce — stručný přehled (L1 / L2)</a:t>
            </a:r>
            <a:endParaRPr lang="cs-CZ" sz="2600">
              <a:solidFill>
                <a:srgbClr val="14202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431B5BDC-3B00-81B8-BCDD-87E0ED96774F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5FA8B79C-4667-E03C-46BF-65BDD8AC42EF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763BD81A-B8B6-FF38-F34B-EC46952F8C35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Restore z archivu — vrácení dat zpět do zdroje; elevovaný operátor (L2), jen z konzole, nejdřív DryRun → potvrzení.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E6761587-3B8C-0192-4855-DD0A7257BAC8}"/>
              </a:ext>
            </a:extLst>
          </p:cNvPr>
          <p:cNvSpPr/>
          <p:nvPr/>
        </p:nvSpPr>
        <p:spPr>
          <a:xfrm>
            <a:off x="812800" y="25273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8A0304D7-9E7F-990E-58C1-39B0FD372FBE}"/>
              </a:ext>
            </a:extLst>
          </p:cNvPr>
          <p:cNvSpPr txBox="1"/>
          <p:nvPr/>
        </p:nvSpPr>
        <p:spPr>
          <a:xfrm>
            <a:off x="1117600" y="24664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Recovery uvízlých běhů — automatický job à 15 min uzavře běhy, které zůstaly viset (stale &gt; 30 min).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5A592421-D087-8AAC-3E71-DAF1A898B9F2}"/>
              </a:ext>
            </a:extLst>
          </p:cNvPr>
          <p:cNvSpPr/>
          <p:nvPr/>
        </p:nvSpPr>
        <p:spPr>
          <a:xfrm>
            <a:off x="812800" y="30734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9A178F49-1840-262F-9A88-8253BD163A68}"/>
              </a:ext>
            </a:extLst>
          </p:cNvPr>
          <p:cNvSpPr txBox="1"/>
          <p:nvPr/>
        </p:nvSpPr>
        <p:spPr>
          <a:xfrm>
            <a:off x="1117600" y="30125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Zálohy archivu — FULL denně + LOG každou hodinu, s ověřením a retencí; znovunasazení řeší L2 (skript 048).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6F5CC19E-C073-204B-A7BA-46F2C1E373D1}"/>
              </a:ext>
            </a:extLst>
          </p:cNvPr>
          <p:cNvSpPr/>
          <p:nvPr/>
        </p:nvSpPr>
        <p:spPr>
          <a:xfrm>
            <a:off x="812800" y="36195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5DA8267C-E5F6-2780-023B-EEF7D8E6E33A}"/>
              </a:ext>
            </a:extLst>
          </p:cNvPr>
          <p:cNvSpPr txBox="1"/>
          <p:nvPr/>
        </p:nvSpPr>
        <p:spPr>
          <a:xfrm>
            <a:off x="1117600" y="35586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Validace konfigurace — nálezy ERROR / WARN / INFO; ERROR blokuje uložení i běh (řeší L2).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992F538C-619D-9098-7E38-17CE7716DA12}"/>
              </a:ext>
            </a:extLst>
          </p:cNvPr>
          <p:cNvSpPr/>
          <p:nvPr/>
        </p:nvSpPr>
        <p:spPr>
          <a:xfrm>
            <a:off x="812800" y="41656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5D126412-67A5-D541-69EB-8BA672736873}"/>
              </a:ext>
            </a:extLst>
          </p:cNvPr>
          <p:cNvSpPr txBox="1"/>
          <p:nvPr/>
        </p:nvSpPr>
        <p:spPr>
          <a:xfrm>
            <a:off x="1117600" y="41047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Odhady dopadu — kolik příští běh přesune (řádky + MB); orientační, výchozí skryté.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E5CD286B-135D-5C35-6174-A82A87CD4E0A}"/>
              </a:ext>
            </a:extLst>
          </p:cNvPr>
          <p:cNvSpPr/>
          <p:nvPr/>
        </p:nvSpPr>
        <p:spPr>
          <a:xfrm>
            <a:off x="812800" y="47117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C05B38BF-70CD-A4C1-2352-F009FEC569B0}"/>
              </a:ext>
            </a:extLst>
          </p:cNvPr>
          <p:cNvSpPr txBox="1"/>
          <p:nvPr/>
        </p:nvSpPr>
        <p:spPr>
          <a:xfrm>
            <a:off x="1117600" y="46508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600">
                <a:solidFill>
                  <a:srgbClr val="14202B"/>
                </a:solidFill>
                <a:latin typeface="Segoe UI" panose="020B0502040204020203" pitchFamily="34" charset="0"/>
              </a:rPr>
              <a:t>Go-live readiness — finální checklist READY / WARN / NOT READY; o produkci rozhoduje L2.</a:t>
            </a:r>
            <a:endParaRPr lang="cs-CZ" sz="1600">
              <a:solidFill>
                <a:srgbClr val="14202B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Obdélník 20">
            <a:extLst>
              <a:ext uri="{FF2B5EF4-FFF2-40B4-BE49-F238E27FC236}">
                <a16:creationId xmlns:a16="http://schemas.microsoft.com/office/drawing/2014/main" id="{EAFAC5F2-C09B-2213-D6AF-5E1EB8DC3224}"/>
              </a:ext>
            </a:extLst>
          </p:cNvPr>
          <p:cNvSpPr/>
          <p:nvPr/>
        </p:nvSpPr>
        <p:spPr>
          <a:xfrm>
            <a:off x="812800" y="52578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D4676CE4-5417-6924-E8CD-44BE389B57AC}"/>
              </a:ext>
            </a:extLst>
          </p:cNvPr>
          <p:cNvSpPr txBox="1"/>
          <p:nvPr/>
        </p:nvSpPr>
        <p:spPr>
          <a:xfrm>
            <a:off x="1117600" y="51969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Legal hold — právní blokace mazání vybraných klíčů; přidání i uvolnění jen role approver (L2).</a:t>
            </a:r>
          </a:p>
        </p:txBody>
      </p:sp>
      <p:sp>
        <p:nvSpPr>
          <p:cNvPr id="23" name="Obdélník: se zakulacenými rohy 22">
            <a:extLst>
              <a:ext uri="{FF2B5EF4-FFF2-40B4-BE49-F238E27FC236}">
                <a16:creationId xmlns:a16="http://schemas.microsoft.com/office/drawing/2014/main" id="{C0ED6101-7986-375A-4132-E0016AEBB31B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4" name="Obdélník 23">
            <a:extLst>
              <a:ext uri="{FF2B5EF4-FFF2-40B4-BE49-F238E27FC236}">
                <a16:creationId xmlns:a16="http://schemas.microsoft.com/office/drawing/2014/main" id="{FC8E82EA-9ADB-3291-24C4-80C44D1D78A2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5" name="TextovéPole 24">
            <a:extLst>
              <a:ext uri="{FF2B5EF4-FFF2-40B4-BE49-F238E27FC236}">
                <a16:creationId xmlns:a16="http://schemas.microsoft.com/office/drawing/2014/main" id="{49179202-322A-F7BE-BCF4-C3326E57A444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Sledování a čtení zvládne L1; restore, zálohy, validaci, legal hold i go-live řeší L2 — restore navíc vyžaduje elevovaného operátora.</a:t>
            </a:r>
          </a:p>
        </p:txBody>
      </p:sp>
    </p:spTree>
    <p:extLst>
      <p:ext uri="{BB962C8B-B14F-4D97-AF65-F5344CB8AC3E}">
        <p14:creationId xmlns:p14="http://schemas.microsoft.com/office/powerpoint/2010/main" val="12498210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133260D4-184B-4E72-D06E-B533BFBB84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33E9B738-B0CA-B82D-1C9A-9D6B4A010EFA}"/>
              </a:ext>
            </a:extLst>
          </p:cNvPr>
          <p:cNvSpPr txBox="1"/>
          <p:nvPr/>
        </p:nvSpPr>
        <p:spPr>
          <a:xfrm>
            <a:off x="812800" y="2159000"/>
            <a:ext cx="2540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7200">
                <a:solidFill>
                  <a:srgbClr val="0F7A63"/>
                </a:solidFill>
                <a:latin typeface="Segoe UI Light" panose="020B0502040204020203" pitchFamily="34" charset="0"/>
              </a:rPr>
              <a:t>05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DAE06DE0-F899-AD4B-73F7-DC8AEFA9ADFE}"/>
              </a:ext>
            </a:extLst>
          </p:cNvPr>
          <p:cNvSpPr/>
          <p:nvPr/>
        </p:nvSpPr>
        <p:spPr>
          <a:xfrm>
            <a:off x="889000" y="3429000"/>
            <a:ext cx="1143000" cy="50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018BEC3D-8424-B4EE-3454-277D880C777E}"/>
              </a:ext>
            </a:extLst>
          </p:cNvPr>
          <p:cNvSpPr txBox="1"/>
          <p:nvPr/>
        </p:nvSpPr>
        <p:spPr>
          <a:xfrm>
            <a:off x="812800" y="3683000"/>
            <a:ext cx="10566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3400">
                <a:solidFill>
                  <a:srgbClr val="FFFFFF"/>
                </a:solidFill>
                <a:latin typeface="Segoe UI Semibold" panose="020B0702040204020203" pitchFamily="34" charset="0"/>
              </a:rPr>
              <a:t>Admin Console — nástroj, se kterým budete pracovat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1534C1E2-D259-AEDB-FC4C-605DE3DE190D}"/>
              </a:ext>
            </a:extLst>
          </p:cNvPr>
          <p:cNvSpPr txBox="1"/>
          <p:nvPr/>
        </p:nvSpPr>
        <p:spPr>
          <a:xfrm>
            <a:off x="812800" y="6350000"/>
            <a:ext cx="508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0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</p:spTree>
    <p:extLst>
      <p:ext uri="{BB962C8B-B14F-4D97-AF65-F5344CB8AC3E}">
        <p14:creationId xmlns:p14="http://schemas.microsoft.com/office/powerpoint/2010/main" val="17377347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CE76BAA8-0D7D-AFA0-5C18-4E6C6B8B03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52F597D-D3B9-902A-3EC2-2EAD17ABF4F9}"/>
              </a:ext>
            </a:extLst>
          </p:cNvPr>
          <p:cNvSpPr txBox="1"/>
          <p:nvPr/>
        </p:nvSpPr>
        <p:spPr>
          <a:xfrm>
            <a:off x="812800" y="8128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Admin Console — mapa panelů podle činnosti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2FFF3AA0-4EE8-103D-EF64-238AA9F02EBC}"/>
              </a:ext>
            </a:extLst>
          </p:cNvPr>
          <p:cNvSpPr/>
          <p:nvPr/>
        </p:nvSpPr>
        <p:spPr>
          <a:xfrm>
            <a:off x="812800" y="1422400"/>
            <a:ext cx="4826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: se zakulacenými rohy 4">
            <a:extLst>
              <a:ext uri="{FF2B5EF4-FFF2-40B4-BE49-F238E27FC236}">
                <a16:creationId xmlns:a16="http://schemas.microsoft.com/office/drawing/2014/main" id="{B1CF9DBE-2DB1-60EF-080D-906BC8DBA286}"/>
              </a:ext>
            </a:extLst>
          </p:cNvPr>
          <p:cNvSpPr/>
          <p:nvPr/>
        </p:nvSpPr>
        <p:spPr>
          <a:xfrm>
            <a:off x="812800" y="1778000"/>
            <a:ext cx="2565400" cy="508000"/>
          </a:xfrm>
          <a:prstGeom prst="round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1218705F-56DA-E9B2-B194-593C836D9706}"/>
              </a:ext>
            </a:extLst>
          </p:cNvPr>
          <p:cNvSpPr txBox="1"/>
          <p:nvPr/>
        </p:nvSpPr>
        <p:spPr>
          <a:xfrm>
            <a:off x="812800" y="1824166"/>
            <a:ext cx="25654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cs-CZ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Přehled (čtení)</a:t>
            </a:r>
          </a:p>
        </p:txBody>
      </p:sp>
      <p:sp>
        <p:nvSpPr>
          <p:cNvPr id="7" name="Obdélník: se zakulacenými rohy 6">
            <a:extLst>
              <a:ext uri="{FF2B5EF4-FFF2-40B4-BE49-F238E27FC236}">
                <a16:creationId xmlns:a16="http://schemas.microsoft.com/office/drawing/2014/main" id="{698E1187-282E-F9DA-7D98-5604F081D2DB}"/>
              </a:ext>
            </a:extLst>
          </p:cNvPr>
          <p:cNvSpPr/>
          <p:nvPr/>
        </p:nvSpPr>
        <p:spPr>
          <a:xfrm>
            <a:off x="812800" y="2362200"/>
            <a:ext cx="2565400" cy="317500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5D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52040919-1F84-FD8C-C05F-324EE205E875}"/>
              </a:ext>
            </a:extLst>
          </p:cNvPr>
          <p:cNvSpPr txBox="1"/>
          <p:nvPr/>
        </p:nvSpPr>
        <p:spPr>
          <a:xfrm>
            <a:off x="990600" y="2540000"/>
            <a:ext cx="22606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14202B"/>
                </a:solidFill>
                <a:latin typeface="Segoe UI" panose="020B0502040204020203" pitchFamily="34" charset="0"/>
              </a:rPr>
              <a:t>Dashboard</a:t>
            </a:r>
          </a:p>
          <a:p>
            <a:r>
              <a:rPr lang="en-US" sz="1200">
                <a:solidFill>
                  <a:srgbClr val="14202B"/>
                </a:solidFill>
                <a:latin typeface="Segoe UI" panose="020B0502040204020203" pitchFamily="34" charset="0"/>
              </a:rPr>
              <a:t>Historie běhů</a:t>
            </a:r>
          </a:p>
          <a:p>
            <a:r>
              <a:rPr lang="en-US" sz="1200">
                <a:solidFill>
                  <a:srgbClr val="14202B"/>
                </a:solidFill>
                <a:latin typeface="Segoe UI" panose="020B0502040204020203" pitchFamily="34" charset="0"/>
              </a:rPr>
              <a:t>Detail běhu</a:t>
            </a:r>
          </a:p>
          <a:p>
            <a:r>
              <a:rPr lang="en-US" sz="1200">
                <a:solidFill>
                  <a:srgbClr val="14202B"/>
                </a:solidFill>
                <a:latin typeface="Segoe UI" panose="020B0502040204020203" pitchFamily="34" charset="0"/>
              </a:rPr>
              <a:t>Audit search</a:t>
            </a:r>
          </a:p>
          <a:p>
            <a:r>
              <a:rPr lang="en-US" sz="1200">
                <a:solidFill>
                  <a:srgbClr val="14202B"/>
                </a:solidFill>
                <a:latin typeface="Segoe UI" panose="020B0502040204020203" pitchFamily="34" charset="0"/>
              </a:rPr>
              <a:t>Go-live readiness</a:t>
            </a:r>
            <a:endParaRPr lang="cs-CZ" sz="1200">
              <a:solidFill>
                <a:srgbClr val="14202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Obdélník: se zakulacenými rohy 8">
            <a:extLst>
              <a:ext uri="{FF2B5EF4-FFF2-40B4-BE49-F238E27FC236}">
                <a16:creationId xmlns:a16="http://schemas.microsoft.com/office/drawing/2014/main" id="{5DC2EF50-5035-02CC-0AFF-63F27CEB9943}"/>
              </a:ext>
            </a:extLst>
          </p:cNvPr>
          <p:cNvSpPr/>
          <p:nvPr/>
        </p:nvSpPr>
        <p:spPr>
          <a:xfrm>
            <a:off x="3530600" y="1778000"/>
            <a:ext cx="2565400" cy="508000"/>
          </a:xfrm>
          <a:prstGeom prst="roundRect">
            <a:avLst/>
          </a:prstGeom>
          <a:solidFill>
            <a:srgbClr val="0B5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7CE847D2-A8DC-494E-0E8D-89EF0E4DAE3D}"/>
              </a:ext>
            </a:extLst>
          </p:cNvPr>
          <p:cNvSpPr txBox="1"/>
          <p:nvPr/>
        </p:nvSpPr>
        <p:spPr>
          <a:xfrm>
            <a:off x="3530600" y="1824166"/>
            <a:ext cx="25654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cs-CZ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Konfigurace (zápis)</a:t>
            </a:r>
          </a:p>
        </p:txBody>
      </p:sp>
      <p:sp>
        <p:nvSpPr>
          <p:cNvPr id="11" name="Obdélník: se zakulacenými rohy 10">
            <a:extLst>
              <a:ext uri="{FF2B5EF4-FFF2-40B4-BE49-F238E27FC236}">
                <a16:creationId xmlns:a16="http://schemas.microsoft.com/office/drawing/2014/main" id="{FB8A2B02-0FFD-20A2-3C49-8792C4921260}"/>
              </a:ext>
            </a:extLst>
          </p:cNvPr>
          <p:cNvSpPr/>
          <p:nvPr/>
        </p:nvSpPr>
        <p:spPr>
          <a:xfrm>
            <a:off x="3530600" y="2362200"/>
            <a:ext cx="2565400" cy="317500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5D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F3C5E196-4221-1CDA-0310-FAB1613F0BF3}"/>
              </a:ext>
            </a:extLst>
          </p:cNvPr>
          <p:cNvSpPr txBox="1"/>
          <p:nvPr/>
        </p:nvSpPr>
        <p:spPr>
          <a:xfrm>
            <a:off x="3708400" y="2540000"/>
            <a:ext cx="22606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14202B"/>
                </a:solidFill>
                <a:latin typeface="Segoe UI" panose="020B0502040204020203" pitchFamily="34" charset="0"/>
              </a:rPr>
              <a:t>Process config</a:t>
            </a:r>
          </a:p>
          <a:p>
            <a:r>
              <a:rPr lang="en-US" sz="1200">
                <a:solidFill>
                  <a:srgbClr val="14202B"/>
                </a:solidFill>
                <a:latin typeface="Segoe UI" panose="020B0502040204020203" pitchFamily="34" charset="0"/>
              </a:rPr>
              <a:t>Database mapping</a:t>
            </a:r>
          </a:p>
          <a:p>
            <a:r>
              <a:rPr lang="en-US" sz="1200">
                <a:solidFill>
                  <a:srgbClr val="14202B"/>
                </a:solidFill>
                <a:latin typeface="Segoe UI" panose="020B0502040204020203" pitchFamily="34" charset="0"/>
              </a:rPr>
              <a:t>Override precedence</a:t>
            </a:r>
          </a:p>
          <a:p>
            <a:r>
              <a:rPr lang="en-US" sz="1200">
                <a:solidFill>
                  <a:srgbClr val="14202B"/>
                </a:solidFill>
                <a:latin typeface="Segoe UI" panose="020B0502040204020203" pitchFamily="34" charset="0"/>
              </a:rPr>
              <a:t>Edit-lock / heslo / Win-auth</a:t>
            </a:r>
            <a:endParaRPr lang="cs-CZ" sz="1200">
              <a:solidFill>
                <a:srgbClr val="14202B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Obdélník: se zakulacenými rohy 12">
            <a:extLst>
              <a:ext uri="{FF2B5EF4-FFF2-40B4-BE49-F238E27FC236}">
                <a16:creationId xmlns:a16="http://schemas.microsoft.com/office/drawing/2014/main" id="{1F792A3B-2025-3B6A-1FA6-565B1578CE4D}"/>
              </a:ext>
            </a:extLst>
          </p:cNvPr>
          <p:cNvSpPr/>
          <p:nvPr/>
        </p:nvSpPr>
        <p:spPr>
          <a:xfrm>
            <a:off x="6248400" y="1778000"/>
            <a:ext cx="2565400" cy="508000"/>
          </a:xfrm>
          <a:prstGeom prst="round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86ACEC09-AA8C-0BE8-4786-307B2EBE3A60}"/>
              </a:ext>
            </a:extLst>
          </p:cNvPr>
          <p:cNvSpPr txBox="1"/>
          <p:nvPr/>
        </p:nvSpPr>
        <p:spPr>
          <a:xfrm>
            <a:off x="6248400" y="1824166"/>
            <a:ext cx="25654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cs-CZ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Provoz (ops)</a:t>
            </a:r>
          </a:p>
        </p:txBody>
      </p:sp>
      <p:sp>
        <p:nvSpPr>
          <p:cNvPr id="15" name="Obdélník: se zakulacenými rohy 14">
            <a:extLst>
              <a:ext uri="{FF2B5EF4-FFF2-40B4-BE49-F238E27FC236}">
                <a16:creationId xmlns:a16="http://schemas.microsoft.com/office/drawing/2014/main" id="{78499565-4D86-D307-515A-F10A41A88782}"/>
              </a:ext>
            </a:extLst>
          </p:cNvPr>
          <p:cNvSpPr/>
          <p:nvPr/>
        </p:nvSpPr>
        <p:spPr>
          <a:xfrm>
            <a:off x="6248400" y="2362200"/>
            <a:ext cx="2565400" cy="317500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5D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FD5596B6-126B-7946-5019-B94D38464D08}"/>
              </a:ext>
            </a:extLst>
          </p:cNvPr>
          <p:cNvSpPr txBox="1"/>
          <p:nvPr/>
        </p:nvSpPr>
        <p:spPr>
          <a:xfrm>
            <a:off x="6426200" y="2540000"/>
            <a:ext cx="22606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200">
                <a:solidFill>
                  <a:srgbClr val="14202B"/>
                </a:solidFill>
                <a:latin typeface="Segoe UI" panose="020B0502040204020203" pitchFamily="34" charset="0"/>
              </a:rPr>
              <a:t>Ovládání jobů</a:t>
            </a:r>
          </a:p>
          <a:p>
            <a:r>
              <a:rPr lang="cs-CZ" sz="1200">
                <a:solidFill>
                  <a:srgbClr val="14202B"/>
                </a:solidFill>
                <a:latin typeface="Segoe UI" panose="020B0502040204020203" pitchFamily="34" charset="0"/>
              </a:rPr>
              <a:t>(PREP / RUN)</a:t>
            </a:r>
          </a:p>
          <a:p>
            <a:r>
              <a:rPr lang="cs-CZ" sz="1200">
                <a:solidFill>
                  <a:srgbClr val="14202B"/>
                </a:solidFill>
                <a:latin typeface="Segoe UI" panose="020B0502040204020203" pitchFamily="34" charset="0"/>
              </a:rPr>
              <a:t>Odhad dopadu běhu</a:t>
            </a:r>
          </a:p>
          <a:p>
            <a:r>
              <a:rPr lang="cs-CZ" sz="1200">
                <a:solidFill>
                  <a:srgbClr val="14202B"/>
                </a:solidFill>
                <a:latin typeface="Segoe UI" panose="020B0502040204020203" pitchFamily="34" charset="0"/>
              </a:rPr>
              <a:t>Explain plan</a:t>
            </a:r>
          </a:p>
        </p:txBody>
      </p:sp>
      <p:sp>
        <p:nvSpPr>
          <p:cNvPr id="17" name="Obdélník: se zakulacenými rohy 16">
            <a:extLst>
              <a:ext uri="{FF2B5EF4-FFF2-40B4-BE49-F238E27FC236}">
                <a16:creationId xmlns:a16="http://schemas.microsoft.com/office/drawing/2014/main" id="{24EA36D5-10CD-FB41-3301-9E2697880105}"/>
              </a:ext>
            </a:extLst>
          </p:cNvPr>
          <p:cNvSpPr/>
          <p:nvPr/>
        </p:nvSpPr>
        <p:spPr>
          <a:xfrm>
            <a:off x="8966200" y="1778000"/>
            <a:ext cx="2565400" cy="508000"/>
          </a:xfrm>
          <a:prstGeom prst="roundRect">
            <a:avLst/>
          </a:prstGeom>
          <a:solidFill>
            <a:srgbClr val="0E1A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732B6CF2-B1DC-2868-542E-87CACC5B12C6}"/>
              </a:ext>
            </a:extLst>
          </p:cNvPr>
          <p:cNvSpPr txBox="1"/>
          <p:nvPr/>
        </p:nvSpPr>
        <p:spPr>
          <a:xfrm>
            <a:off x="8966200" y="1824166"/>
            <a:ext cx="25654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cs-CZ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Pokročilé (advanced)</a:t>
            </a:r>
          </a:p>
        </p:txBody>
      </p:sp>
      <p:sp>
        <p:nvSpPr>
          <p:cNvPr id="19" name="Obdélník: se zakulacenými rohy 18">
            <a:extLst>
              <a:ext uri="{FF2B5EF4-FFF2-40B4-BE49-F238E27FC236}">
                <a16:creationId xmlns:a16="http://schemas.microsoft.com/office/drawing/2014/main" id="{54E29C8D-366D-DFB4-73E2-D2C302CC2BE4}"/>
              </a:ext>
            </a:extLst>
          </p:cNvPr>
          <p:cNvSpPr/>
          <p:nvPr/>
        </p:nvSpPr>
        <p:spPr>
          <a:xfrm>
            <a:off x="8966200" y="2362200"/>
            <a:ext cx="2565400" cy="317500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5D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2EBB5F22-5D17-4457-03FA-7E17760EBDED}"/>
              </a:ext>
            </a:extLst>
          </p:cNvPr>
          <p:cNvSpPr txBox="1"/>
          <p:nvPr/>
        </p:nvSpPr>
        <p:spPr>
          <a:xfrm>
            <a:off x="9144000" y="2540000"/>
            <a:ext cx="22606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14202B"/>
                </a:solidFill>
                <a:latin typeface="Segoe UI" panose="020B0502040204020203" pitchFamily="34" charset="0"/>
              </a:rPr>
              <a:t>Legal holds</a:t>
            </a:r>
          </a:p>
          <a:p>
            <a:r>
              <a:rPr lang="en-US" sz="1200">
                <a:solidFill>
                  <a:srgbClr val="14202B"/>
                </a:solidFill>
                <a:latin typeface="Segoe UI" panose="020B0502040204020203" pitchFamily="34" charset="0"/>
              </a:rPr>
              <a:t>Restore z archivu</a:t>
            </a:r>
          </a:p>
          <a:p>
            <a:r>
              <a:rPr lang="en-US" sz="1200">
                <a:solidFill>
                  <a:srgbClr val="14202B"/>
                </a:solidFill>
                <a:latin typeface="Segoe UI" panose="020B0502040204020203" pitchFamily="34" charset="0"/>
              </a:rPr>
              <a:t>Operátoři / edit-access</a:t>
            </a:r>
          </a:p>
          <a:p>
            <a:r>
              <a:rPr lang="en-US" sz="1200">
                <a:solidFill>
                  <a:srgbClr val="14202B"/>
                </a:solidFill>
                <a:latin typeface="Segoe UI" panose="020B0502040204020203" pitchFamily="34" charset="0"/>
              </a:rPr>
              <a:t>Last-login audit</a:t>
            </a:r>
            <a:endParaRPr lang="cs-CZ" sz="1200">
              <a:solidFill>
                <a:srgbClr val="14202B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AF3BC4D7-7C26-CEC2-3AA1-D14F06462955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8976A120-8F08-744E-0324-6B8F34E39D87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endParaRPr lang="cs-CZ" sz="900">
              <a:solidFill>
                <a:srgbClr val="5B6B78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Obdélník 22">
            <a:extLst>
              <a:ext uri="{FF2B5EF4-FFF2-40B4-BE49-F238E27FC236}">
                <a16:creationId xmlns:a16="http://schemas.microsoft.com/office/drawing/2014/main" id="{E171BCDE-706D-ED44-CC8C-3D309ED33DCD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656328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C7128837-0F0B-D2D1-FE57-DE8CD4CA3F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5F237000-49EC-2608-ABDE-3A0D434CEA09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B6114DE4-5972-A0E6-C8F3-8AFA21FE31E2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40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20B275C7-B110-06FC-3CB5-2848BF07765C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C77C09D2-80C7-5D7C-B936-D9BBA60475C2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ADMIN CONSOLE — NÁSTROJ, SE KTERÝM BUDETE PRACOVAT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05921966-F028-42C4-F9B5-13D7A7B4AED0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Co je Admin Console a jak se v ní orientovat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65652DA3-EFB2-BC9E-BE8E-85AD8CD7094D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A4BDE340-0C7B-9400-96EF-1BC2E21987A2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3C535405-FAB2-DCB8-09A1-25454D11437C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Webová konzole, otevřete ji v prohlížeči na adrese, kterou sdělí administrátor.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F0F97E68-D35D-8B36-285D-CB410ADE02C6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5BCFCFC9-0EFF-BBB7-28A8-2C34973D9937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Přehledy a vyhledávání jsou dostupné i bez přihlášení.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09942472-9412-2755-4688-E8B08845C9C5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E8B30BD8-3BDF-4160-1AA2-506A8E4A0E08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Levá lišta: Dashboard, Analysis &amp; Estimates, Runs, Document lookup, Configuration, Validation, Go-live.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60F34110-8187-9889-5D53-2CD4546A53EC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C525B172-9312-5971-5762-8D256D2D5FEC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Vpravo nahoře hlídejte indikátory API OK / DB OK; jiný stav nahlaste administrátorovi.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79041C8A-A06D-01BB-9A30-D10E5F2227A0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C07C3BD3-5203-48CA-0E2C-B958C76A7AFA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Hlavička filtruje vše: Process, Source DB (prázdné = všechny), Archive DB, Include disabled, Refresh.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00F65036-3059-FB14-94F4-115E0E3312CC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08279DCF-67C2-A964-F811-78CDBEFE3D41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L1 pracuje hlavně v Dashboard + Runs + Document lookup; Configuration je doménou L2.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C670497B-7F97-C88D-267E-43E44FF30C97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3F29920E-A1D0-337C-E7E9-AF9F14D52A78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6BB600AE-5DE3-C8A7-D517-99354282E5FC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Konzole je jedno webové místo pro sledování i konfiguraci; čtení je volné, úpravy jsou za přihlášením.</a:t>
            </a:r>
          </a:p>
        </p:txBody>
      </p:sp>
    </p:spTree>
    <p:extLst>
      <p:ext uri="{BB962C8B-B14F-4D97-AF65-F5344CB8AC3E}">
        <p14:creationId xmlns:p14="http://schemas.microsoft.com/office/powerpoint/2010/main" val="26300291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746623E8-472D-B836-6298-3D283103FD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7B240FA1-2738-6AD8-734B-EC22802E8518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B3CD9463-2D8A-A6D5-559D-87EE53FC9BB2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41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9C2390F3-C6F5-5837-C5B6-0188EEBF1331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F71BAD52-66F1-8ED9-9842-6EAE82B6A2C0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ADMIN CONSOLE — NÁSTROJ, SE KTERÝM BUDETE PRACOVAT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74591E28-E0B4-C3DB-E05F-71F7A00C2B38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600">
                <a:solidFill>
                  <a:srgbClr val="14202B"/>
                </a:solidFill>
                <a:latin typeface="Segoe UI Semibold" panose="020B0702040204020203" pitchFamily="34" charset="0"/>
              </a:rPr>
              <a:t>Dashboard — sem se díváte jako první</a:t>
            </a:r>
            <a:endParaRPr lang="cs-CZ" sz="2600">
              <a:solidFill>
                <a:srgbClr val="14202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92FA8FF8-90D8-F4FB-F7CD-7B1F3EEC5F53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641BFE2F-0BC3-0352-F1D8-F824A80DE892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5F79891B-0798-1D63-FA14-4BFDE58B1FA2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Dlaždice: Active processes, Source rows, Archived rows, Recent non-OK runs.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2A62162C-A8EE-464A-DA24-9396BCB128BB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00AFD94E-BF7E-E620-2B3D-BF40B2491509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Operační signály (Data balance, Run health, Prep/run queue, Config validation) ukazují zdraví systému.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1CB13634-CB25-B375-099B-6940521E7DB1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1CC111DF-9482-AA10-18F4-BC87C681BE43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Tabulka Process movement: Source rows, Archived, Delta (rozdíl zdroj minus archiv).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41435A46-7673-62B5-5A4A-399A90C7DCF1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E4AD74FB-A0D1-1559-2DA3-0EBCA0DB37F1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600">
                <a:solidFill>
                  <a:srgbClr val="14202B"/>
                </a:solidFill>
                <a:latin typeface="Segoe UI" panose="020B0502040204020203" pitchFamily="34" charset="0"/>
              </a:rPr>
              <a:t>Tabulka Recent runs: Process, Status, Docs, Archived, Deleted, Started.</a:t>
            </a:r>
            <a:endParaRPr lang="cs-CZ" sz="1600">
              <a:solidFill>
                <a:srgbClr val="14202B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9F47E7F0-CE58-AF8B-842E-DBB763147980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9B9BE3E8-3D92-30A8-E96D-1D63BE0103A8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600">
                <a:solidFill>
                  <a:srgbClr val="14202B"/>
                </a:solidFill>
                <a:latin typeface="Segoe UI" panose="020B0502040204020203" pitchFamily="34" charset="0"/>
              </a:rPr>
              <a:t>Tabulka Prep/run dávky: Batch, Status, Candidates, Prepared (čas přípravy).</a:t>
            </a:r>
            <a:endParaRPr lang="cs-CZ" sz="1600">
              <a:solidFill>
                <a:srgbClr val="14202B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A54F1BE0-9173-5CB9-0D74-89A780A9C399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0DBD447D-8030-29F6-6FF4-77BAE4480A8E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User manual je odsud volně ke stažení — pro běžné uživatele bez přihlášení.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1DCC72E9-0AEF-CFFD-CCC8-313AEF3BCC89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ABF6BE81-19A1-18E2-C331-4E2CC7920AC6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FBFB8147-6A0F-04C2-FAFD-1169A519D0F9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Dashboard dá L1 zdraví systému na první pohled; vše zelené znamená systém v pořádku.</a:t>
            </a:r>
          </a:p>
        </p:txBody>
      </p:sp>
    </p:spTree>
    <p:extLst>
      <p:ext uri="{BB962C8B-B14F-4D97-AF65-F5344CB8AC3E}">
        <p14:creationId xmlns:p14="http://schemas.microsoft.com/office/powerpoint/2010/main" val="22096462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35A08E8A-E41C-3FBF-159A-0F2E2A95A0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741264C8-845E-9F68-5A65-1FED8AB5F77E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A114BCE1-7C17-5141-F754-7A81AB2F9F81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42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47F60D65-33B4-A60C-2E9A-0D3EA1F7A69C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649264DC-F584-FB3C-7D6B-B818BCBEDB5A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ADMIN CONSOLE — NÁSTROJ, SE KTERÝM BUDETE PRACOVAT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B652AF35-6E16-7054-7AA7-C597D498D035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Runs — historie běhů a jejich stavy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E3FBB456-4E9F-DF90-6158-A87F6BA3FD7F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9C6B5155-43DA-32F6-DF06-BAC337EAFC0A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A81AE422-197B-8E47-2CBF-7401172D5C13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Seznam běhů: Process, Mode, Status, Started, Finished, Duration, Docs, Rows, Error.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AE197E8C-38C8-672A-34CC-D3121E1C3178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90A9492E-3619-49BD-3ED6-CD0AF576A011}"/>
              </a:ext>
            </a:extLst>
          </p:cNvPr>
          <p:cNvSpPr txBox="1"/>
          <p:nvPr/>
        </p:nvSpPr>
        <p:spPr>
          <a:xfrm>
            <a:off x="1117600" y="2432279"/>
            <a:ext cx="102616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Stav OK = proběhl v pořádku; FAILED = selhal nebo byl zastaven operátorem — data zůstala konzistentní a příště se zopakuje.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25371CAB-0904-FB88-1BB1-9DA4D25FE471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20EB2C62-4FB8-2C79-FB07-EBFD1B42C267}"/>
              </a:ext>
            </a:extLst>
          </p:cNvPr>
          <p:cNvSpPr txBox="1"/>
          <p:nvPr/>
        </p:nvSpPr>
        <p:spPr>
          <a:xfrm>
            <a:off x="1117600" y="3067279"/>
            <a:ext cx="102616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Čtyři stavy: RUNNING / OK / FAILED / DRYRUN (jen náhled, nic se nesmazalo); STOPPED jako samostatný stav NEEXISTUJE.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C6F0A57F-7E18-7BBE-811F-6084E5AF67E7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28EE5EFB-9384-25C9-B561-FC615C69607E}"/>
              </a:ext>
            </a:extLst>
          </p:cNvPr>
          <p:cNvSpPr txBox="1"/>
          <p:nvPr/>
        </p:nvSpPr>
        <p:spPr>
          <a:xfrm>
            <a:off x="1117600" y="3702279"/>
            <a:ext cx="102616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Zastavení operátorem (Stop) = běh skončí jako FAILED s vyplněným polem CancelRequestedBy (kdo) a CancelReason (proč).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354D80DA-78AD-E259-F846-66E05BF02C39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2F428501-8415-8425-A1DE-369A61D7522A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600">
                <a:solidFill>
                  <a:srgbClr val="14202B"/>
                </a:solidFill>
                <a:latin typeface="Segoe UI" panose="020B0502040204020203" pitchFamily="34" charset="0"/>
              </a:rPr>
              <a:t>Klik na běh otevře detail: Run items, Work batches, Object movement, Document audit.</a:t>
            </a:r>
            <a:endParaRPr lang="cs-CZ" sz="1600">
              <a:solidFill>
                <a:srgbClr val="14202B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724BF32F-A22B-082E-5224-2EBC3B72663D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0723A5AF-DFC2-4118-142D-18E0F7A020D4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Akce v detailu: Stop (kooperativní zastavení) a Restore (vrácení dat, jen elevovaný operátor).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02BC6AC4-9A79-6B59-A2BD-02C3EAB1B0BE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8FC3A8CB-C995-566E-EB85-E985476BD1F1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F7B4B7C1-1353-2E5F-9765-13793BAD5E73}"/>
              </a:ext>
            </a:extLst>
          </p:cNvPr>
          <p:cNvSpPr txBox="1"/>
          <p:nvPr/>
        </p:nvSpPr>
        <p:spPr>
          <a:xfrm>
            <a:off x="1066800" y="5805845"/>
            <a:ext cx="101092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V Runs poznáte, zda běh proběhl korektně, kolik se archivovalo a smazalo; zastavený běh je FAILED s informací kdo a proč jej zastavil.</a:t>
            </a:r>
          </a:p>
        </p:txBody>
      </p:sp>
    </p:spTree>
    <p:extLst>
      <p:ext uri="{BB962C8B-B14F-4D97-AF65-F5344CB8AC3E}">
        <p14:creationId xmlns:p14="http://schemas.microsoft.com/office/powerpoint/2010/main" val="25858627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156A5385-F11E-D214-DEBF-7988335A50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A8BC31C7-D9F4-C1C8-7E14-74559035C648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DCB5C13D-83D4-9765-8832-60C4E1289538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43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C6D91F2D-92C9-0A3B-BD4E-D965B6842D9A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70CFE8ED-4EC8-9D1C-7DBC-7C5D770E4A64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ADMIN CONSOLE — NÁSTROJ, SE KTERÝM BUDETE PRACOVAT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4A0D9482-D782-12A4-2141-6BB81594E29B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2600">
                <a:solidFill>
                  <a:srgbClr val="14202B"/>
                </a:solidFill>
                <a:latin typeface="Segoe UI Semibold" panose="020B0702040204020203" pitchFamily="34" charset="0"/>
              </a:rPr>
              <a:t>Document lookup — "Kde je můj doklad?"</a:t>
            </a:r>
            <a:endParaRPr lang="cs-CZ" sz="2600">
              <a:solidFill>
                <a:srgbClr val="14202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02FF6167-B8AA-108E-7ADB-D1CB07AB880D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E495C50D-90F0-7F69-745F-F8D6AA091FCD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432BEEFD-F804-8ACD-DA5C-040960728CAC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Zadáte klíč dokladu (např. číslo dokladu nebo ROWID) a zjistíte, kde doklad je.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01453D67-C682-8E8F-C9C7-19551AA02571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9EE995C4-A006-9892-0C89-118DBF747653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600">
                <a:solidFill>
                  <a:srgbClr val="14202B"/>
                </a:solidFill>
                <a:latin typeface="Segoe UI" panose="020B0502040204020203" pitchFamily="34" charset="0"/>
              </a:rPr>
              <a:t>Souhrn ukáže: Result, Key, Processes, Archived, Run item, Source.</a:t>
            </a:r>
            <a:endParaRPr lang="cs-CZ" sz="1600">
              <a:solidFill>
                <a:srgbClr val="14202B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B8138F6B-0B22-C03C-B9F5-EA12357AAD33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56FEF767-69E0-2AC1-FAF8-25CB32CD8999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600">
                <a:solidFill>
                  <a:srgbClr val="14202B"/>
                </a:solidFill>
                <a:latin typeface="Segoe UI" panose="020B0502040204020203" pitchFamily="34" charset="0"/>
              </a:rPr>
              <a:t>Detaily ukážou: Process, Label, Key, Archived a Deleted at (čas smazání).</a:t>
            </a:r>
            <a:endParaRPr lang="cs-CZ" sz="1600">
              <a:solidFill>
                <a:srgbClr val="14202B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3A15D5B2-BDD8-3585-2270-ED9D6C9276CE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38391A3E-014B-F46C-DB0C-419262402761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Typický dotaz L1: "Byl tenhle doklad zarchivován a kdy se přesunul?"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1BE48C59-19DE-6206-431E-6639DA719711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61596769-EE7B-5B91-2EBC-EE649BD88F54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Když je doklad v archivu, najdete přesný běh, který ho zpracoval.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B4C2FA94-8D69-A83E-46DE-7D780CA142DF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F940ED9A-0DDD-2AF4-2540-02B680F9A4AC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Potřeba doklad fyzicky vrátit = Restore = eskalace na L2 (elevovaný operátor).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C8785935-9C11-E478-719F-D59B158257DC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1204E580-2DBE-F9B4-4CFD-98C2C3904969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513951CB-1681-F36C-9293-A3B81D2CD994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Document lookup zodpoví nejčastější zákaznický dotaz "kde jsou moje data" během několika vteřin.</a:t>
            </a:r>
          </a:p>
        </p:txBody>
      </p:sp>
    </p:spTree>
    <p:extLst>
      <p:ext uri="{BB962C8B-B14F-4D97-AF65-F5344CB8AC3E}">
        <p14:creationId xmlns:p14="http://schemas.microsoft.com/office/powerpoint/2010/main" val="35083664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01DE2EFB-75EB-880A-C33A-8C3E76CCBA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A92E4F59-E8CA-563A-DE25-78C376BF254A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176D2D2D-2561-2ADC-F132-7CE14F15DC88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44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06A84DE7-CED0-275C-C724-B9F23F4CAA41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E114B82E-652C-2995-0199-1D61745394EB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ADMIN CONSOLE — NÁSTROJ, SE KTERÝM BUDETE PRACOVAT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31077BF9-D97C-A687-FCE4-717F796EBE3C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Configuration — procesy, mapování a precedence override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CB0EB789-D2EA-21AF-A7B3-EB46B9D7D0F6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E5D242C3-861D-A43A-D12F-0F538FBABD3D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DFE372D9-191E-1843-45A3-D9442E9B7586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Jen pro přihlášené operátory; každá změna vyžaduje důvod změny (min. 6 znaků) a je auditována.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1CF4A34D-1052-35FC-4739-AEE123B1F6A3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01EB7595-88CD-3496-FAF0-1328F9281471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Editor procesu nastavuje výchozí hodnoty: Mode, Retention, Audit level, limity dávek.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A1237F8D-785E-A40B-9493-761A1C346562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C10A67D7-7342-2EB6-42E1-CD8B660FF0EB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Database mappings = override pro konkrétní zdrojovou DB; prázdné pole dědí z procesu.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7C89D548-8327-7C0B-DB94-19FC5A552394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9E8061AF-32AF-26D2-7F10-90F0CA065734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Efektivní hodnota = override z mapování, jinak výchozí z procesu.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39647349-0A5B-B2AF-FCA7-F09F5D13D029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226EA0B7-6A3A-77C2-45ED-B8C716A1C4B2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Mode: Archive + delete, Delete only (bez archivace), Copy only (jen kopíruj).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68141C27-6D55-10D5-7171-9946B31F6B47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D6BD42F6-58B7-D970-D85B-12C0CF7074A8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600">
                <a:solidFill>
                  <a:srgbClr val="14202B"/>
                </a:solidFill>
                <a:latin typeface="Segoe UI" panose="020B0502040204020203" pitchFamily="34" charset="0"/>
              </a:rPr>
              <a:t>Před uložením zkontrolujte Concurrency check a použijte Review changes + Show effective plan.</a:t>
            </a:r>
            <a:endParaRPr lang="cs-CZ" sz="1600">
              <a:solidFill>
                <a:srgbClr val="14202B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59AFD7CC-DF12-EF14-5FF9-3B87C3B961F5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EFFFF8E1-BB40-19A0-1441-F3EA654DFEEF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439BF046-3CBE-4103-CFC1-0828C799098A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Konfigurace je vrstvená: proces dává výchozí hodnoty, mapování je může pro danou DB přepsat.</a:t>
            </a:r>
          </a:p>
        </p:txBody>
      </p:sp>
    </p:spTree>
    <p:extLst>
      <p:ext uri="{BB962C8B-B14F-4D97-AF65-F5344CB8AC3E}">
        <p14:creationId xmlns:p14="http://schemas.microsoft.com/office/powerpoint/2010/main" val="29977133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D939DCF4-5D32-5669-25C5-851744138C1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A4A4BA63-AC7D-1E85-B9DA-7549E9D4E018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7DA4FAC2-91D8-AFB3-9DE6-643BFB540CD7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45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B7C60493-6195-BF19-AE70-F64A165D39F9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246F6459-7DA5-FA2C-B8F4-DDB1A10C6E5F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ADMIN CONSOLE — NÁSTROJ, SE KTERÝM BUDETE PRACOVAT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EEA64B3C-1F94-FA2E-8839-B050F8298080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>
                <a:solidFill>
                  <a:srgbClr val="14202B"/>
                </a:solidFill>
                <a:latin typeface="Segoe UI Semibold" panose="020B0702040204020203" pitchFamily="34" charset="0"/>
              </a:rPr>
              <a:t>Configuration — přihlášení, edit-lock a operátoři</a:t>
            </a:r>
            <a:endParaRPr lang="cs-CZ" sz="2600">
              <a:solidFill>
                <a:srgbClr val="14202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FB669B39-1A38-8DD1-E287-56C124D65F58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EBFAFB7D-C5BC-6A7A-8FC1-8CB81A7E1B11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E9999E77-24D7-13F4-92E5-C30488DDC52A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Úpravy odemknete tlačítkem Lock / Unlock vpravo nahoře (pole Operator + Password).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7DEC24E7-E359-3EB2-E103-8B2184671F0C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6C52D7C6-501C-9911-BAD7-CE970E9645EA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Po přihlášení svítí "Editing as … (jméno)" — víte, že máte právo editace.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71BC8CB9-F638-F402-91B4-BE33A71A02F2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26614D3F-46EE-AE29-2DE7-51BB295CA55F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Restore dat zpět do produkce vyžaduje elevovaného operátora.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4B596ABF-791D-78E9-3719-0C812305A6D5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675C7FB2-F2AF-577E-DB78-DC247F35EC00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Panel Operátoři konzole: Uživatel, Jméno, Heslo, Povolen, Elevovaný (restore).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6EF53337-54B5-5F9C-7705-E2962FE0DE9C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BE1EB123-2214-5595-03C9-9C968B499CF1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Heslo se ukládá jen jako bezpečný otisk, nikdy čitelně; prázdné při úpravě = beze změny.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C1C662E7-4462-61F2-BC84-EDC14BDA0420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247EDA52-448A-9AC4-829B-9AF2754BA8A4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Změny konfigurace patří L2; rizikový Restore navíc vyžaduje elevovaného operátora.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B5C04DBB-3D1A-F809-2EC4-6FEEC98B41B0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8680E72F-B30D-3525-10FC-53316B1B79F7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6352290E-FC32-DE09-742E-DF3199A0EA1B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Editace je za přihlášením operátora; rizikový restore navíc vyžaduje elevovaného operátora.</a:t>
            </a:r>
          </a:p>
        </p:txBody>
      </p:sp>
    </p:spTree>
    <p:extLst>
      <p:ext uri="{BB962C8B-B14F-4D97-AF65-F5344CB8AC3E}">
        <p14:creationId xmlns:p14="http://schemas.microsoft.com/office/powerpoint/2010/main" val="7904493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7FE0F761-62DE-527A-68F4-D4CA894386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DD679831-3ACB-E291-2C42-62545F545103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9C90A046-06F1-F966-4436-9E3DC4B6C04C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46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CF28E9D6-B962-A195-E9B9-E5BC18A2FD81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54EDF505-0F4F-FB1E-53EB-B8EB229A48C2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ADMIN CONSOLE — NÁSTROJ, SE KTERÝM BUDETE PRACOVAT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90D81F7A-ABE2-9926-3E54-22105344A719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2600">
                <a:solidFill>
                  <a:srgbClr val="14202B"/>
                </a:solidFill>
                <a:latin typeface="Segoe UI Semibold" panose="020B0702040204020203" pitchFamily="34" charset="0"/>
              </a:rPr>
              <a:t>Plánování jobů a Validation — práce L2</a:t>
            </a:r>
            <a:endParaRPr lang="cs-CZ" sz="2600">
              <a:solidFill>
                <a:srgbClr val="14202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96C421AD-AE9D-B0C9-0388-D5E2F8BE1A39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7826F750-DB25-60C3-7FD6-C3C814980C1C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99F43667-B9DC-936E-2AC4-64961C2825EB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Panel Plánování: SQL Agent joby PREP (příprava kandidátů přes den) a RUN (zpracování v okně).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1331D362-14DD-9628-40B7-F802BBA1AE48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C64A190E-A277-AD96-E7A2-F75E3052586E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U každého jobu: Povolit/Zakázat, Četnost (Denně / Každou hodinu), Čas (HH:MM), Rozvrh aktivní.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938BABD2-DC54-542F-86C9-BEFA105DFEF4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16CA6F18-62A4-A9FC-44AC-DF2E46EB12FB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Rozvrhy jobů nastavujte mimo špičku, do dohodnutého nočního okna.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E7220403-C9BE-3A35-F501-E52F2559874F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CD054A3F-4CCA-EBA2-BA6E-80BD876BE52C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Validation spustí kontroly konfigurace a indexů: Code, Severity (ERROR/WARN/INFO), Finding, Suggested SQL.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EF2C28EC-3AF7-29AF-142B-7DB4B1377543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B7F121E7-23B9-A915-BEE8-8C416F2C3366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ERROR blokuje uložení i publikaci; opravte podle nabídnutého Suggested SQL.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C8A45982-7B17-CAD4-FFD9-25F91181A6EA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EF76D01B-030D-A88B-71B2-EDC8D449D59E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Index requirements jsou jen doporučení — indexy do zdrojové DB nikdy nenasazujte sami.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D047502A-FCEE-C29C-F7EB-0C1707EB5E20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DE749DEB-9DDE-4A9F-04C9-6C3F0367A324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CD07F8E0-1409-6748-15F1-E4547BAC1229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L2 přes konzoli zapíná a plánuje joby a Validací drží konfiguraci čistou; ERROR vždy blokuje uložení.</a:t>
            </a:r>
          </a:p>
        </p:txBody>
      </p:sp>
    </p:spTree>
    <p:extLst>
      <p:ext uri="{BB962C8B-B14F-4D97-AF65-F5344CB8AC3E}">
        <p14:creationId xmlns:p14="http://schemas.microsoft.com/office/powerpoint/2010/main" val="5800682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F64351B7-69D0-716D-CD01-60F7DA6E07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7F152BEB-1A8A-41A3-87EA-853113340A96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D3019534-A187-9409-345A-187A680C9608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47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74A4D950-2B02-36D4-D9DB-6B1BB7D78E08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EC955C0B-414C-F98D-D9DD-5055A0CBFC5A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ADMIN CONSOLE — NÁSTROJ, SE KTERÝM BUDETE PRACOVAT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5507F12E-4590-A838-0761-C44F99EA7DA3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>
                <a:solidFill>
                  <a:srgbClr val="14202B"/>
                </a:solidFill>
                <a:latin typeface="Segoe UI Semibold" panose="020B0702040204020203" pitchFamily="34" charset="0"/>
              </a:rPr>
              <a:t>Go-live, audit a manuály — kam pro jistotu</a:t>
            </a:r>
            <a:endParaRPr lang="cs-CZ" sz="2600">
              <a:solidFill>
                <a:srgbClr val="14202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2EEEBB89-93DE-9107-88B4-2E8A5694C585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0B0D03C4-7585-0326-4F8E-8E02D067025B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F2ED5E25-22ED-A7FC-D3BC-F3D173D24869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600">
                <a:solidFill>
                  <a:srgbClr val="14202B"/>
                </a:solidFill>
                <a:latin typeface="Segoe UI" panose="020B0502040204020203" pitchFamily="34" charset="0"/>
              </a:rPr>
              <a:t>Go-live je brána připravenosti: sloupce Area, Check, Status, Detail, Recommendation.</a:t>
            </a:r>
            <a:endParaRPr lang="cs-CZ" sz="1600">
              <a:solidFill>
                <a:srgbClr val="14202B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78CCEB37-8A97-006C-9E20-8801F1321036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C83F212C-4D07-ABE8-31C6-89FD02D8F6E5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600">
                <a:solidFill>
                  <a:srgbClr val="14202B"/>
                </a:solidFill>
                <a:latin typeface="Segoe UI" panose="020B0502040204020203" pitchFamily="34" charset="0"/>
              </a:rPr>
              <a:t>Souhrnný stav Go-live je READY / READY WITH WARNINGS / NOT READY.</a:t>
            </a:r>
            <a:endParaRPr lang="cs-CZ" sz="1600">
              <a:solidFill>
                <a:srgbClr val="14202B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5E3110D5-DCB8-F3E4-02A9-20638967B48F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611E345A-8AE7-935C-97A6-15113E150C86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Document audit a Object movement v detailu běhu = neměnná stopa kdo/kdy/co smazal.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C660CCFF-99BA-8380-C753-D3DE7F480E39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A6B11232-68F4-C60A-E017-3FB1CAEEF237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Audit nelze měnit ani mazat; u režimu Archive + delete musí být Divergence rovna 0.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44B62DC4-0A00-BCEA-F6EB-16A4AD4EB48C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DBA95ED5-9203-2971-0286-079657BAD93F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User manual je volně na Dashboardu; Admin manuál je v Configuration po přihlášení.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3E160E7E-3944-23CA-4F51-925CA6629A79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9C472D20-44C5-5961-B68F-EB3DA747CE2E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Při nejasné ztrátě dat nebo Divergence různé od nuly eskalujte okamžitě na L2.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80BE6159-915A-93D1-1A70-580D92E6B30A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738289E6-5F8A-E9D3-3ECA-60BFFD7F5386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A7482362-6866-E0D5-955A-D00227320BFE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Go-live a audit jsou vaše pojistky důvěry; oba manuály máte přímo v konzoli pro každodenní oporu.</a:t>
            </a:r>
          </a:p>
        </p:txBody>
      </p:sp>
    </p:spTree>
    <p:extLst>
      <p:ext uri="{BB962C8B-B14F-4D97-AF65-F5344CB8AC3E}">
        <p14:creationId xmlns:p14="http://schemas.microsoft.com/office/powerpoint/2010/main" val="38825308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1B9B8BFA-A8D6-498D-FC7B-DD81EBC957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F3D41F12-8F5A-15BB-73A7-77AE40562A2D}"/>
              </a:ext>
            </a:extLst>
          </p:cNvPr>
          <p:cNvSpPr txBox="1"/>
          <p:nvPr/>
        </p:nvSpPr>
        <p:spPr>
          <a:xfrm>
            <a:off x="812800" y="2159000"/>
            <a:ext cx="2540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7200">
                <a:solidFill>
                  <a:srgbClr val="0F7A63"/>
                </a:solidFill>
                <a:latin typeface="Segoe UI Light" panose="020B0502040204020203" pitchFamily="34" charset="0"/>
              </a:rPr>
              <a:t>06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88F2895C-EA4C-7F5D-7B6B-4BB56D555818}"/>
              </a:ext>
            </a:extLst>
          </p:cNvPr>
          <p:cNvSpPr/>
          <p:nvPr/>
        </p:nvSpPr>
        <p:spPr>
          <a:xfrm>
            <a:off x="889000" y="3429000"/>
            <a:ext cx="1143000" cy="50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C3C857EA-8970-235B-C99B-7855AC179F59}"/>
              </a:ext>
            </a:extLst>
          </p:cNvPr>
          <p:cNvSpPr txBox="1"/>
          <p:nvPr/>
        </p:nvSpPr>
        <p:spPr>
          <a:xfrm>
            <a:off x="812800" y="3683000"/>
            <a:ext cx="10566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3400">
                <a:solidFill>
                  <a:srgbClr val="FFFFFF"/>
                </a:solidFill>
                <a:latin typeface="Segoe UI Semibold" panose="020B0702040204020203" pitchFamily="34" charset="0"/>
              </a:rPr>
              <a:t>Provoz a řešení potíží pro L1/L2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340EC336-02EA-4DE8-D088-DD8CE5B085AF}"/>
              </a:ext>
            </a:extLst>
          </p:cNvPr>
          <p:cNvSpPr txBox="1"/>
          <p:nvPr/>
        </p:nvSpPr>
        <p:spPr>
          <a:xfrm>
            <a:off x="812800" y="6350000"/>
            <a:ext cx="508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0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</p:spTree>
    <p:extLst>
      <p:ext uri="{BB962C8B-B14F-4D97-AF65-F5344CB8AC3E}">
        <p14:creationId xmlns:p14="http://schemas.microsoft.com/office/powerpoint/2010/main" val="9253516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2E20FCBE-6057-C74D-EAA8-12F23370B1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40FB4726-EB85-0234-28D0-2898179EC228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2C9C74CD-65C2-1837-9F21-5E648AD1D517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49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AA0D0D7-9A7A-AFC4-9001-F3B2511F5691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26E04162-E124-5832-7CB5-ED308C806BD3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PROVOZ A ŘEŠENÍ POTÍŽÍ PRO L1/L2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E06EA2AC-EC5F-28F2-B5AC-DB624172CDAA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600">
                <a:solidFill>
                  <a:srgbClr val="14202B"/>
                </a:solidFill>
                <a:latin typeface="Segoe UI Semibold" panose="020B0702040204020203" pitchFamily="34" charset="0"/>
              </a:rPr>
              <a:t>Stavy běhu: OK, FAILED, DRYRUN — co znamenají</a:t>
            </a:r>
            <a:endParaRPr lang="cs-CZ" sz="2600">
              <a:solidFill>
                <a:srgbClr val="14202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03C5B175-9656-1E65-058B-D5B614F240D3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21B719B2-BEDE-FB17-D662-F1B03063C975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F6086C90-C037-08AD-B0E1-AC048486A3FA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Run (běh) je jedno spuštění archivace; má stav OK / FAILED / DRYRUN a počty řádků.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9B191DE2-E159-6F7A-55F1-619C341428AD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F8129C9B-EAF7-915B-E753-6FECE8F2C13B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OK = běh doběhl korektně, data zazálohována a smazána podle retence.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3DAF0D00-E3A6-F7FA-BE08-F586ADF22114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8C750EF2-B7F2-8BA0-678D-71851C3F4E12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FAILED = běh skončil chybou; v Runs uvidíte chybovou hlášku a kód.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A13ED2CB-28CC-EF6E-C993-DBAA262FA489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D668BFC2-95BC-495D-BB41-383A3E401DD5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DRYRUN = zkušební průchod, jen výpočet kandidátů, reálně se nic nesmaže.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A9161987-7385-FEC0-B317-9C85AF35DEDA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026D27FE-532C-17F4-D70F-6D33E6C135BC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Archivace běží automaticky v nočním okně přes SQL Agent joby (PREP a RUN).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54EFC58E-C811-627E-CB00-F104A3AC4184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0A691865-90C5-F610-A8E9-699A5C378172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L1 začíná vždy na Dashboardu: zelený 'Run health' = vše OK, červený = jděte do Runs.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9D6C9C35-7D69-1E88-8D86-603C9C392579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DD320744-42F8-838E-06E5-C070D90C0A41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BBFE8865-0075-20C6-DDF9-70BB5230BBA5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Stav běhu (OK/FAILED/DRYRUN) čtete v Runs; Dashboard signál 'Run health' napoví, zda je vůbec potřeba se dívat dál.</a:t>
            </a:r>
          </a:p>
        </p:txBody>
      </p:sp>
    </p:spTree>
    <p:extLst>
      <p:ext uri="{BB962C8B-B14F-4D97-AF65-F5344CB8AC3E}">
        <p14:creationId xmlns:p14="http://schemas.microsoft.com/office/powerpoint/2010/main" val="18148684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B2564D67-114A-AA35-A687-2DF14FEC2D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F6EC2D09-13E6-77FB-23F1-B5A7710EBE1B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573277FF-D4E9-6FCE-4B1C-66427023C9CD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50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E382E58-64DA-5FCD-ABDC-9FA3A4FEDC5A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F5E9559E-174E-4F67-C09D-3F919BDA35FC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PROVOZ A ŘEŠENÍ POTÍŽÍ PRO L1/L2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88561D2A-8AB4-F369-6B26-1597AEE1DA47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Divergence = 0 je důkaz integrity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3C06FB2A-76CC-94F1-ECD1-BA73F211F018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4F59DC07-F122-BA35-10D6-D80CC5EC216E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63182699-B90D-788F-AC10-6E418FE6153A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Divergence je kontrolní číslo: u režimu Mode 1 musí být vždy 0.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FFA99FAF-6B66-B81E-E73F-FC524BB2DDFB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1156A324-6099-C1C7-496E-4666FEA3CAC6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Divergence = 0 znamená, že RowsArchived = RowsDeleted (smazáno přesně to, co bylo zazálohováno).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789273FA-89BD-CB6F-587F-51980E79D9D6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5CD1AE8A-1FD4-EE4C-2BA5-F8E5EBE9FDE4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Záloha a smazání jsou atomické (jedna transakce), takže se nikdy nesmaže nic mimo archiv.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5D8A6962-4C94-7DFA-C7B8-05D663B19F91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F26E5795-D45A-8671-FFE5-BEACB38AE19F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Klíčová věta pro zákazníka: 'Mode 1 → archivováno == smazáno, Divergence = 0. Jinak se nic nesmaže.'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FD75573D-6B37-E437-C31B-DB6A1044B1F8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3AA96177-9ED8-18D4-D622-6F50900D1DC3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Při dotazu 'proč ubyla data' otevřete Runs → poslední běh procesu → Divergence=0 potvrdí korektní archivaci.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B112C5DC-11B9-9B95-6EF5-7CE3966EEB7A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9451D1FA-3405-F28B-D392-736C535B6CEB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nl-NL" sz="1600">
                <a:solidFill>
                  <a:srgbClr val="14202B"/>
                </a:solidFill>
                <a:latin typeface="Segoe UI" panose="020B0502040204020203" pitchFamily="34" charset="0"/>
              </a:rPr>
              <a:t>Nejasná ztráta dat nebo Divergence ≠ 0 = okamžitá eskalace na engineering.</a:t>
            </a:r>
            <a:endParaRPr lang="cs-CZ" sz="1600">
              <a:solidFill>
                <a:srgbClr val="14202B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A5AD8929-7D8C-70BD-6ED1-FB009D3B0A13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3DC03107-DF88-DA12-E525-673559546B29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3FBB6087-9FEF-A5C7-30B1-94552110865E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Divergence=0 je váš nejsilnější argument, že archivace proběhla bezpečně a beze ztráty dat.</a:t>
            </a:r>
          </a:p>
        </p:txBody>
      </p:sp>
    </p:spTree>
    <p:extLst>
      <p:ext uri="{BB962C8B-B14F-4D97-AF65-F5344CB8AC3E}">
        <p14:creationId xmlns:p14="http://schemas.microsoft.com/office/powerpoint/2010/main" val="18399888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30FA7BDD-EEDF-89D7-264A-7E39F38D54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A67C2FC8-2AA6-2878-1785-F7309A1E3E33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49D98FE1-8D7E-45C0-C4D6-15A87FB37FD3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51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8E52BF35-67E7-D457-7B7E-66341CA81E86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C50F087D-3090-2C21-443A-C76B368026FE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PROVOZ A ŘEŠENÍ POTÍŽÍ PRO L1/L2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94C7927C-818F-9377-5458-36E31CA468B4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Kam se dívat při potížích: obrazovky konzole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58D7636A-2E2B-4DF7-CA8C-92A8D00F8E26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6A53E83E-55A0-D18F-A362-BBA9EA335AA6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3F01B6D0-3DD9-4B68-418B-426DB7178F4C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Dashboard — stav na první pohled: aktivní procesy, počty zdroj/archiv, Operational signals.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DF0ABB45-65C3-76D9-A099-C839AF951167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643BE589-3744-5B6C-2ECC-48F73D5EC291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600">
                <a:solidFill>
                  <a:srgbClr val="14202B"/>
                </a:solidFill>
                <a:latin typeface="Segoe UI" panose="020B0502040204020203" pitchFamily="34" charset="0"/>
              </a:rPr>
              <a:t>Operational signals = Data balance, Run health, Prep/run queue, Config validation.</a:t>
            </a:r>
            <a:endParaRPr lang="cs-CZ" sz="1600">
              <a:solidFill>
                <a:srgbClr val="14202B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A44E9FF9-947A-4F30-3242-1AAFF3740EAB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2036952A-CE32-7088-1677-012B868D7E54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Runs — historie běhů: stav OK/FAILED/DRYRUN, kolik archivováno/smazáno, trvání, chybová hláška.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0D4260C5-6F81-8517-DC75-82D88E094B6E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44B6F0EF-7E94-18A2-1268-D365EBBF478E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Document lookup — 'Byl tenhle doklad zarchivován?': zadáte klíč, uvidíte kdy a kam se přesunul.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33BAC959-66BA-BB27-3C19-39EA67DBEAEA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C5F1B72D-B8B3-4DD8-CB39-7C006BDFAB17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Validation — kontrola konfigurace a chybějících indexů (jen doporučení, nic se nenasadí samo).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8B3EFE93-9C38-EDDE-8209-75A27476266C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955E3576-71E4-08C9-9A8A-B4DFEA871F7D}"/>
              </a:ext>
            </a:extLst>
          </p:cNvPr>
          <p:cNvSpPr txBox="1"/>
          <p:nvPr/>
        </p:nvSpPr>
        <p:spPr>
          <a:xfrm>
            <a:off x="1117600" y="4972279"/>
            <a:ext cx="102616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Pozor: na výchozím AuditLevel = BATCH (nebo NONE u RF_LOG2) je RunDocAudit prázdný a Document lookup doklad nenajde.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6B9E8910-DFEB-F4DB-6340-02DF2A5347A5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7BE30AED-EA2F-CEA8-7ABB-E55AEA218499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9FA54D9C-D960-7A75-08C4-9FE2B669BE4A}"/>
              </a:ext>
            </a:extLst>
          </p:cNvPr>
          <p:cNvSpPr txBox="1"/>
          <p:nvPr/>
        </p:nvSpPr>
        <p:spPr>
          <a:xfrm>
            <a:off x="1066800" y="5805845"/>
            <a:ext cx="101092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L1 řeší většinu dotazů z Dashboardu, Runs a Document lookup; do auditu RunDocAudit jde L2 — a per-dokument funguje jen u procesů s AuditLevel ROW/OBJECT.</a:t>
            </a:r>
          </a:p>
        </p:txBody>
      </p:sp>
    </p:spTree>
    <p:extLst>
      <p:ext uri="{BB962C8B-B14F-4D97-AF65-F5344CB8AC3E}">
        <p14:creationId xmlns:p14="http://schemas.microsoft.com/office/powerpoint/2010/main" val="28452272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D8E9A9A1-1767-ECF2-512B-0AFB95C2FB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C5C100E2-9DFE-8A62-6E10-DEBB9191E7E9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6EAB4A2D-9983-95DA-7413-BA4555F0D4DA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52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EE53A75D-5784-07B2-DCD6-B24830DE5189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4F3990E1-7856-A731-C322-EBA24910ADDA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PROVOZ A ŘEŠENÍ POTÍŽÍ PRO L1/L2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68E8EA96-AEC2-E1CC-D220-B8689E0FCD1D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Hlavní chybové kódy a první reakce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E994EC82-8A25-ECAF-A462-7F551AD89CF9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BE412183-F835-E03A-A0F2-53E103F652E4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94190FF7-4C26-94DD-3C18-95EBDBDBF1C2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51001 = runner job nemá oprávnění (běží jako sysadmin / chybí granty); časté po obnově DB.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0F3AAF95-784F-F061-2B28-9512647A74AC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623F28B4-1185-17E2-2890-E85EB1C0CC91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50200 = časová zóna není správně nastavená (TZ gate) → L2 ověří konfiguraci zóny procesu.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9253D508-A6D4-A9BC-ED45-3FF68D5421C0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8A187D61-6A58-1BA7-8FEB-E20982DC51ED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50210 = pokus nastavit retenci pod bezpečné minimum (floor), správně odmítnuto.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05B128CB-0596-5A57-DF0A-D08105738589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2617A049-5D46-86F5-4991-A8C78D65AD20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51000 = konfigurace pro běh není platná/aktivní → L2 zkontroluje Configuration a Validation.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7408D14A-BCB6-BA7B-60EF-EB1E577A7DFD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3BD235BD-A60E-505D-38E2-5D666BE39CA3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50400 = nebezpečný SQL výraz v konfiguraci (safe-expr gate) → někdo zadal nevalidní výraz.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272ACDA8-1842-1240-78C3-65ADB3630DD4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27FE1648-6251-2CC9-D8BC-422F76806B72}"/>
              </a:ext>
            </a:extLst>
          </p:cNvPr>
          <p:cNvSpPr txBox="1"/>
          <p:nvPr/>
        </p:nvSpPr>
        <p:spPr>
          <a:xfrm>
            <a:off x="1117600" y="4972279"/>
            <a:ext cx="102616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50223 = copy-only (Mode 2) bez primárního klíče; 50115/50116/50320 = souběh/klíč/applock; 50500+ = chyba odhadu.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9355B9C5-16F9-44D1-1B6F-8F6440560817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92B4B232-587C-8268-D103-89919BA1B582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CC0AE2D8-7E4A-26DA-5FEB-3FAE14E8A042}"/>
              </a:ext>
            </a:extLst>
          </p:cNvPr>
          <p:cNvSpPr txBox="1"/>
          <p:nvPr/>
        </p:nvSpPr>
        <p:spPr>
          <a:xfrm>
            <a:off x="1066800" y="5805845"/>
            <a:ext cx="101092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Kód uvidíte v historii SQL Agent jobu nebo v hlášce; podle něj poznáte, zda jde o oprávnění, zónu, retenci, konfiguraci nebo souběh.</a:t>
            </a:r>
          </a:p>
        </p:txBody>
      </p:sp>
    </p:spTree>
    <p:extLst>
      <p:ext uri="{BB962C8B-B14F-4D97-AF65-F5344CB8AC3E}">
        <p14:creationId xmlns:p14="http://schemas.microsoft.com/office/powerpoint/2010/main" val="150371971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DCE8580B-C85E-C901-48D5-F5013C7694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255C841B-D6DC-6EC5-7C16-3FA2EA2398C3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22F5C5A9-761A-C0C6-E074-396133E4AC29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53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F56995AD-C52E-5B88-604D-775224656B3A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7324246E-6931-01BB-BFE5-0B738B7CF3B5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PROVOZ A ŘEŠENÍ POTÍŽÍ PRO L1/L2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D738E91D-2B51-2802-B5E2-5AEBE783A42C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Nejčastější incident: 51001 po obnově databáze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224C4555-280F-BE1D-BADD-19C9A3841D6B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EEAD1110-2D0D-19F0-2236-D010F32CF433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BD49773A-4559-6B4E-A44E-DA7D4D3A4802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Po obnově/restoru zdrojové DB padají PREP/RUN joby na 51001 — granty runnera se obnovou smažou.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623E4C45-3623-99FB-A1C7-D0124771B472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16AF17D5-1FA6-7A79-5391-1D69DA3376BD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Příznak: naplánovaná archivace neběží, joby končí FAILED s kódem 51001.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89B892E6-A75A-2D1D-7E23-A171387EE89F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351236BF-CC0B-3DAD-6DCB-326741FD5697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Brána 51001 je záměrná ochrana: runner nikdy nesmí běžet pod účtem sysadmina.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2B28019D-FF62-B9E3-BF8C-BA3A29BB000A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20E7A89E-692F-2AEE-C9E1-02BECE08B99A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Řešení (L2): znovu spustit skripty 053 a 054, případně SET MULTI_USER — viz deploy guide.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C1B73468-661C-6B38-F95C-D9A75DC5890E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5B894DDA-D60D-D19F-FD9D-3E9DCC65FCB2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L1 nezasahuje do grantů ani do DB; sebere informace o incidentu a eskaluje na L2.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0C366057-473C-78E0-7279-6781C4962936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656BD526-ACBB-128E-CAE2-5D57576C2371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Toto je 'must-know' incident pro L2 — nejčastější reálná příčina zastavené archivace.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14A01AFC-F4B6-D583-CE87-C9FCE5D6E85F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B57DE97C-BB48-FD48-19B5-C46CC838BD3E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D6F34A70-6AD3-866A-CFD2-8A5456C3974F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Když po obnově DB joby padají na 51001, je to ztráta runner grantů — L2 je obnoví skripty 053/054.</a:t>
            </a:r>
          </a:p>
        </p:txBody>
      </p:sp>
    </p:spTree>
    <p:extLst>
      <p:ext uri="{BB962C8B-B14F-4D97-AF65-F5344CB8AC3E}">
        <p14:creationId xmlns:p14="http://schemas.microsoft.com/office/powerpoint/2010/main" val="26120893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6CCC8981-AE83-5511-06E9-57234A1D88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6171AE1-87C4-700E-3192-819DAA69EBC9}"/>
              </a:ext>
            </a:extLst>
          </p:cNvPr>
          <p:cNvSpPr txBox="1"/>
          <p:nvPr/>
        </p:nvSpPr>
        <p:spPr>
          <a:xfrm>
            <a:off x="812800" y="6527800"/>
            <a:ext cx="508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kArchiveManager 2.0  ·  KODYS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3CF98C17-5040-9AAA-2C82-3985A9BDC560}"/>
              </a:ext>
            </a:extLst>
          </p:cNvPr>
          <p:cNvSpPr txBox="1"/>
          <p:nvPr/>
        </p:nvSpPr>
        <p:spPr>
          <a:xfrm>
            <a:off x="11176000" y="6527800"/>
            <a:ext cx="71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cs-CZ" sz="900">
                <a:solidFill>
                  <a:srgbClr val="5B6B78"/>
                </a:solidFill>
                <a:latin typeface="Segoe UI" panose="020B0502040204020203" pitchFamily="34" charset="0"/>
              </a:rPr>
              <a:t>54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BE1F17DE-E592-C167-6AE4-853208369542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B130E6F1-1DD2-C4CF-996A-71206AB87C57}"/>
              </a:ext>
            </a:extLst>
          </p:cNvPr>
          <p:cNvSpPr txBox="1"/>
          <p:nvPr/>
        </p:nvSpPr>
        <p:spPr>
          <a:xfrm>
            <a:off x="812800" y="508000"/>
            <a:ext cx="1056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100">
                <a:solidFill>
                  <a:srgbClr val="0F7A63"/>
                </a:solidFill>
                <a:latin typeface="Segoe UI Semibold" panose="020B0702040204020203" pitchFamily="34" charset="0"/>
              </a:rPr>
              <a:t>PROVOZ A ŘEŠENÍ POTÍŽÍ PRO L1/L2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4904AA2C-61A7-8329-2EF6-226528E56B31}"/>
              </a:ext>
            </a:extLst>
          </p:cNvPr>
          <p:cNvSpPr txBox="1"/>
          <p:nvPr/>
        </p:nvSpPr>
        <p:spPr>
          <a:xfrm>
            <a:off x="812800" y="787400"/>
            <a:ext cx="1056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2600">
                <a:solidFill>
                  <a:srgbClr val="14202B"/>
                </a:solidFill>
                <a:latin typeface="Segoe UI Semibold" panose="020B0702040204020203" pitchFamily="34" charset="0"/>
              </a:rPr>
              <a:t>Kdy řeší L1, L2 a kdy eskalovat na engineering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78579D62-812D-D63E-F374-4C27E50F44AD}"/>
              </a:ext>
            </a:extLst>
          </p:cNvPr>
          <p:cNvSpPr/>
          <p:nvPr/>
        </p:nvSpPr>
        <p:spPr>
          <a:xfrm>
            <a:off x="812800" y="1574800"/>
            <a:ext cx="3810000" cy="381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86C78898-5343-5490-0838-88537F2D4230}"/>
              </a:ext>
            </a:extLst>
          </p:cNvPr>
          <p:cNvSpPr/>
          <p:nvPr/>
        </p:nvSpPr>
        <p:spPr>
          <a:xfrm>
            <a:off x="812800" y="198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E55E0691-F56B-AB3E-5D0B-C2AE4756EF2D}"/>
              </a:ext>
            </a:extLst>
          </p:cNvPr>
          <p:cNvSpPr txBox="1"/>
          <p:nvPr/>
        </p:nvSpPr>
        <p:spPr>
          <a:xfrm>
            <a:off x="1117600" y="192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L1: sledování Dashboard/Runs, dohledání dokladu, vysvětlení stavu, sběr informací k incidentu.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5FD57665-1AAC-68CE-A340-FEF91DE249D4}"/>
              </a:ext>
            </a:extLst>
          </p:cNvPr>
          <p:cNvSpPr/>
          <p:nvPr/>
        </p:nvSpPr>
        <p:spPr>
          <a:xfrm>
            <a:off x="812800" y="261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ED44E900-C1F7-1129-D6BD-02B500C4F95B}"/>
              </a:ext>
            </a:extLst>
          </p:cNvPr>
          <p:cNvSpPr txBox="1"/>
          <p:nvPr/>
        </p:nvSpPr>
        <p:spPr>
          <a:xfrm>
            <a:off x="1117600" y="255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L2: oprava jobů (51001 → 053/054), validace konfigurace, plánování jobů, čtení auditu, znovunasazení záloh (048).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F407A64B-2BAF-9E73-4DE4-6B63C91DFEFE}"/>
              </a:ext>
            </a:extLst>
          </p:cNvPr>
          <p:cNvSpPr/>
          <p:nvPr/>
        </p:nvSpPr>
        <p:spPr>
          <a:xfrm>
            <a:off x="812800" y="325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BD125549-BF7E-6E4F-197B-D27B799370AD}"/>
              </a:ext>
            </a:extLst>
          </p:cNvPr>
          <p:cNvSpPr txBox="1"/>
          <p:nvPr/>
        </p:nvSpPr>
        <p:spPr>
          <a:xfrm>
            <a:off x="1117600" y="319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L2 dělá restore (vrácení dokladu z archivu, skript 042) — vyžaduje elevated oprávnění a souhlas.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6BE0F8B1-7D18-476F-E1DF-37A8B0070046}"/>
              </a:ext>
            </a:extLst>
          </p:cNvPr>
          <p:cNvSpPr/>
          <p:nvPr/>
        </p:nvSpPr>
        <p:spPr>
          <a:xfrm>
            <a:off x="812800" y="388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65EE82DB-6333-47D0-208D-261EE7261CCC}"/>
              </a:ext>
            </a:extLst>
          </p:cNvPr>
          <p:cNvSpPr txBox="1"/>
          <p:nvPr/>
        </p:nvSpPr>
        <p:spPr>
          <a:xfrm>
            <a:off x="1117600" y="382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Eskalace na engineering: změna chování runneru, výkonové ladění (cheap-mode/dávky), schema/upgrade.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72F3BBB1-5DD6-C6F4-23DC-9BCDE6125345}"/>
              </a:ext>
            </a:extLst>
          </p:cNvPr>
          <p:cNvSpPr/>
          <p:nvPr/>
        </p:nvSpPr>
        <p:spPr>
          <a:xfrm>
            <a:off x="812800" y="4521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3BFF1110-B639-A879-09EC-B346A94EE75B}"/>
              </a:ext>
            </a:extLst>
          </p:cNvPr>
          <p:cNvSpPr txBox="1"/>
          <p:nvPr/>
        </p:nvSpPr>
        <p:spPr>
          <a:xfrm>
            <a:off x="1117600" y="4460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Okamžitá eskalace: nejasná ztráta dat nebo Divergence ≠ 0.</a:t>
            </a: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2C7F7C37-6E08-2391-9DF5-6AADD09C0227}"/>
              </a:ext>
            </a:extLst>
          </p:cNvPr>
          <p:cNvSpPr/>
          <p:nvPr/>
        </p:nvSpPr>
        <p:spPr>
          <a:xfrm>
            <a:off x="812800" y="5156200"/>
            <a:ext cx="127000" cy="1270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E877AC8B-9DF6-9D23-3011-39C2FDD91261}"/>
              </a:ext>
            </a:extLst>
          </p:cNvPr>
          <p:cNvSpPr txBox="1"/>
          <p:nvPr/>
        </p:nvSpPr>
        <p:spPr>
          <a:xfrm>
            <a:off x="1117600" y="5095389"/>
            <a:ext cx="1026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600">
                <a:solidFill>
                  <a:srgbClr val="14202B"/>
                </a:solidFill>
                <a:latin typeface="Segoe UI" panose="020B0502040204020203" pitchFamily="34" charset="0"/>
              </a:rPr>
              <a:t>Nikdy: neměníme ani nemažeme data ručně v produkční DB a nenasazujeme indexy do zdrojové DB.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BBA00DBC-98D8-66D7-A24F-748D82B3AEB9}"/>
              </a:ext>
            </a:extLst>
          </p:cNvPr>
          <p:cNvSpPr/>
          <p:nvPr/>
        </p:nvSpPr>
        <p:spPr>
          <a:xfrm>
            <a:off x="812800" y="5867400"/>
            <a:ext cx="10566400" cy="558800"/>
          </a:xfrm>
          <a:prstGeom prst="roundRect">
            <a:avLst/>
          </a:prstGeom>
          <a:solidFill>
            <a:srgbClr val="E0F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9D607D3C-9F1C-521E-1188-05DFC58E6CF9}"/>
              </a:ext>
            </a:extLst>
          </p:cNvPr>
          <p:cNvSpPr/>
          <p:nvPr/>
        </p:nvSpPr>
        <p:spPr>
          <a:xfrm>
            <a:off x="812800" y="5867400"/>
            <a:ext cx="76200" cy="5588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9EDC54D1-98D8-741B-8D11-D0986CAFDE14}"/>
              </a:ext>
            </a:extLst>
          </p:cNvPr>
          <p:cNvSpPr txBox="1"/>
          <p:nvPr/>
        </p:nvSpPr>
        <p:spPr>
          <a:xfrm>
            <a:off x="1066800" y="5905872"/>
            <a:ext cx="1010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cs-CZ" sz="1300" b="1">
                <a:solidFill>
                  <a:srgbClr val="0B5C4B"/>
                </a:solidFill>
                <a:latin typeface="Segoe UI Semibold" panose="020B0702040204020203" pitchFamily="34" charset="0"/>
              </a:rPr>
              <a:t>➜  L1 sleduje a sbírá, L2 opravuje konfiguraci a joby; ztráta dat či Divergence≠0 jdou rovnou na engineering.</a:t>
            </a:r>
          </a:p>
        </p:txBody>
      </p:sp>
    </p:spTree>
    <p:extLst>
      <p:ext uri="{BB962C8B-B14F-4D97-AF65-F5344CB8AC3E}">
        <p14:creationId xmlns:p14="http://schemas.microsoft.com/office/powerpoint/2010/main" val="8258257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791B6939-9C98-70C0-D32F-2830D4DD32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E9215C5D-2D26-FD4E-C096-7D41C44F3216}"/>
              </a:ext>
            </a:extLst>
          </p:cNvPr>
          <p:cNvSpPr/>
          <p:nvPr/>
        </p:nvSpPr>
        <p:spPr>
          <a:xfrm>
            <a:off x="812800" y="2540000"/>
            <a:ext cx="1143000" cy="76200"/>
          </a:xfrm>
          <a:prstGeom prst="rect">
            <a:avLst/>
          </a:prstGeom>
          <a:solidFill>
            <a:srgbClr val="0F7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516C49D6-A1B3-F71D-0030-49B3DD715FD9}"/>
              </a:ext>
            </a:extLst>
          </p:cNvPr>
          <p:cNvSpPr txBox="1"/>
          <p:nvPr/>
        </p:nvSpPr>
        <p:spPr>
          <a:xfrm>
            <a:off x="812800" y="1524000"/>
            <a:ext cx="105664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4000">
                <a:solidFill>
                  <a:srgbClr val="FFFFFF"/>
                </a:solidFill>
                <a:latin typeface="Segoe UI Light" panose="020B0502040204020203" pitchFamily="34" charset="0"/>
              </a:rPr>
              <a:t>Shrnutí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969F54DC-B8A3-3D28-7CF2-06C947FCB9F7}"/>
              </a:ext>
            </a:extLst>
          </p:cNvPr>
          <p:cNvSpPr txBox="1"/>
          <p:nvPr/>
        </p:nvSpPr>
        <p:spPr>
          <a:xfrm>
            <a:off x="812800" y="2667000"/>
            <a:ext cx="10566400" cy="207749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cs-CZ" sz="1500">
                <a:solidFill>
                  <a:srgbClr val="FFFFFF"/>
                </a:solidFill>
                <a:latin typeface="Segoe UI" panose="020B0502040204020203" pitchFamily="34" charset="0"/>
              </a:rPr>
              <a:t>▪  kArchiveManager 2.0 bezpečně archivuje produkční data — vždy archivuje dřív, než maže.</a:t>
            </a:r>
          </a:p>
          <a:p>
            <a:endParaRPr lang="cs-CZ" sz="150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r>
              <a:rPr lang="cs-CZ" sz="1500">
                <a:solidFill>
                  <a:srgbClr val="FFFFFF"/>
                </a:solidFill>
                <a:latin typeface="Segoe UI" panose="020B0502040204020203" pitchFamily="34" charset="0"/>
              </a:rPr>
              <a:t>▪  Výběr nezamyká produkci a nenasazuje indexy ve zdroji.</a:t>
            </a:r>
          </a:p>
          <a:p>
            <a:endParaRPr lang="cs-CZ" sz="150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r>
              <a:rPr lang="cs-CZ" sz="1500">
                <a:solidFill>
                  <a:srgbClr val="FFFFFF"/>
                </a:solidFill>
                <a:latin typeface="Segoe UI" panose="020B0502040204020203" pitchFamily="34" charset="0"/>
              </a:rPr>
              <a:t>▪  Každý běh má audit a kontrolu integrity (Divergence = 0).</a:t>
            </a:r>
          </a:p>
          <a:p>
            <a:endParaRPr lang="cs-CZ" sz="150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r>
              <a:rPr lang="cs-CZ" sz="1500">
                <a:solidFill>
                  <a:srgbClr val="FFFFFF"/>
                </a:solidFill>
                <a:latin typeface="Segoe UI" panose="020B0502040204020203" pitchFamily="34" charset="0"/>
              </a:rPr>
              <a:t>▪  Vy pracujete hlavně v Admin Console — přehled, konfigurace, provoz.</a:t>
            </a:r>
          </a:p>
          <a:p>
            <a:endParaRPr lang="cs-CZ" sz="150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r>
              <a:rPr lang="cs-CZ" sz="1500">
                <a:solidFill>
                  <a:srgbClr val="FFFFFF"/>
                </a:solidFill>
                <a:latin typeface="Segoe UI" panose="020B0502040204020203" pitchFamily="34" charset="0"/>
              </a:rPr>
              <a:t>▪  Při potížích: historie běhů → audit → readiness; podle chybového kódu eskalujte.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49E4475A-AC58-E6E5-9F78-D61A68EB4B09}"/>
              </a:ext>
            </a:extLst>
          </p:cNvPr>
          <p:cNvSpPr txBox="1"/>
          <p:nvPr/>
        </p:nvSpPr>
        <p:spPr>
          <a:xfrm>
            <a:off x="812800" y="6350000"/>
            <a:ext cx="10566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1200">
                <a:solidFill>
                  <a:srgbClr val="0F7A63"/>
                </a:solidFill>
                <a:latin typeface="Segoe UI" panose="020B0502040204020203" pitchFamily="34" charset="0"/>
              </a:rPr>
              <a:t>Děkujeme — dotazy vítány.  ·  KODYS  ·  26. 6. 2026</a:t>
            </a:r>
            <a:endParaRPr lang="cs-CZ" sz="1200">
              <a:solidFill>
                <a:srgbClr val="0F7A63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84173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6074</Words>
  <Application>Microsoft Office PowerPoint</Application>
  <PresentationFormat>Vlastní</PresentationFormat>
  <Paragraphs>584</Paragraphs>
  <Slides>55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55</vt:i4>
      </vt:variant>
    </vt:vector>
  </HeadingPairs>
  <TitlesOfParts>
    <vt:vector size="62" baseType="lpstr">
      <vt:lpstr>Aptos</vt:lpstr>
      <vt:lpstr>Aptos Display</vt:lpstr>
      <vt:lpstr>Arial</vt:lpstr>
      <vt:lpstr>Segoe UI</vt:lpstr>
      <vt:lpstr>Segoe UI Light</vt:lpstr>
      <vt:lpstr>Segoe UI Semibold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KODYS, spol. s r.o.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Radim Stachal</dc:creator>
  <cp:lastModifiedBy>Radim Stachal</cp:lastModifiedBy>
  <cp:revision>1</cp:revision>
  <dcterms:created xsi:type="dcterms:W3CDTF">2026-06-26T08:38:01Z</dcterms:created>
  <dcterms:modified xsi:type="dcterms:W3CDTF">2026-06-26T08:38:01Z</dcterms:modified>
</cp:coreProperties>
</file>